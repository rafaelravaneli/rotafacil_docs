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</p:sldIdLst>
  <p:sldSz cx="14630400" cy="10972800"/>
  <p:notesSz cx="109728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8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50049"/>
            <a:ext cx="7556421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e Virtualização Tradicional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61903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Introdução aos Containers e Tecnologias de Virtualização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740509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Docente: Vinícius Mota Zulianelli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1671"/>
            <a:ext cx="87760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Criação do Container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57763"/>
            <a:ext cx="41595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2. Instanciação do Container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2819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os comandos a seguir para criar e iniciar um container a partir de uma imagem: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486513"/>
            <a:ext cx="6279356" cy="2202894"/>
          </a:xfrm>
          <a:prstGeom prst="roundRect">
            <a:avLst>
              <a:gd name="adj" fmla="val 3784"/>
            </a:avLst>
          </a:prstGeom>
          <a:solidFill>
            <a:srgbClr val="343232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4486513"/>
            <a:ext cx="6299121" cy="2202894"/>
          </a:xfrm>
          <a:prstGeom prst="roundRect">
            <a:avLst>
              <a:gd name="adj" fmla="val 1351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635341"/>
            <a:ext cx="590240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Criar e iniciar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run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-d -p 80:80 nome-imagem</a:t>
            </a:r>
          </a:p>
          <a:p>
            <a:pPr marL="0" indent="0" algn="l">
              <a:lnSpc>
                <a:spcPts val="250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Ou separadamente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create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nome-imagem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start container-id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874" y="30577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acontece: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64874" y="3653076"/>
            <a:ext cx="6279356" cy="1833324"/>
          </a:xfrm>
          <a:prstGeom prst="roundRect">
            <a:avLst>
              <a:gd name="adj" fmla="val 6918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2014" y="3653076"/>
            <a:ext cx="91440" cy="1833324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7854672" y="38742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Pull da Imagem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54672" y="4382810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imagem é baixada do Docker Hub (ou de um registro privado), caso não esteja disponível localmente.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64874" y="5928532"/>
            <a:ext cx="6279356" cy="1808708"/>
          </a:xfrm>
          <a:prstGeom prst="roundRect">
            <a:avLst>
              <a:gd name="adj" fmla="val 6918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2014" y="5928531"/>
            <a:ext cx="91440" cy="1808707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54672" y="6149750"/>
            <a:ext cx="25634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Criação do Container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54672" y="6658266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Uma camada de leitura/escrita é adicionada sobre as camadas da imagem, criando um ambiente isolado.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64874" y="7958458"/>
            <a:ext cx="6279356" cy="1896741"/>
          </a:xfrm>
          <a:prstGeom prst="roundRect">
            <a:avLst>
              <a:gd name="adj" fmla="val 6918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2014" y="7958459"/>
            <a:ext cx="91440" cy="18967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9" name="Text 17"/>
          <p:cNvSpPr/>
          <p:nvPr/>
        </p:nvSpPr>
        <p:spPr>
          <a:xfrm>
            <a:off x="7854672" y="8179677"/>
            <a:ext cx="29727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Inicialização Automática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54672" y="8688193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comando definido na imagem (CMD ou ENTRYPOINT) é executado, iniciando os processos da aplicação.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1769"/>
            <a:ext cx="450925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Execução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510189"/>
            <a:ext cx="241053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Estados do Container: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012394"/>
            <a:ext cx="7556421" cy="446484"/>
          </a:xfrm>
          <a:prstGeom prst="roundRect">
            <a:avLst>
              <a:gd name="adj" fmla="val 48009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60319" y="2206166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42618" y="260770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Running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2618" y="2929533"/>
            <a:ext cx="725876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container está ativo e executando sua aplicação ou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processos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buNone/>
            </a:pP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definidos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93790" y="3563520"/>
            <a:ext cx="7556421" cy="446484"/>
          </a:xfrm>
          <a:prstGeom prst="roundRect">
            <a:avLst>
              <a:gd name="adj" fmla="val 48009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0319" y="3757291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42618" y="415883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Paused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42618" y="4480658"/>
            <a:ext cx="72587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container está temporariamente suspenso, com todos os processos congelados, mas mantendo seu estado.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3790" y="5166495"/>
            <a:ext cx="7556421" cy="446484"/>
          </a:xfrm>
          <a:prstGeom prst="roundRect">
            <a:avLst>
              <a:gd name="adj" fmla="val 48009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0319" y="5360267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42618" y="575334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Stopped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42618" y="6075167"/>
            <a:ext cx="725876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container não está mais executando, mas seus dados e </a:t>
            </a:r>
          </a:p>
          <a:p>
            <a:pPr marL="0" indent="0" algn="l">
              <a:buNone/>
            </a:pP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configurações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persistem até ser removido.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93790" y="6771619"/>
            <a:ext cx="7556421" cy="26194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93790" y="7004055"/>
            <a:ext cx="284333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3. Container em Execução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3790" y="7379256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Após a criação e inicialização, o container entra em seu estado de execução, onde a aplicação reside e interage com o ambiente. Use os comandos abaixo para monitorar e gerenciar: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86408" y="8446242"/>
            <a:ext cx="7571184" cy="2128123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22" name="Text 19"/>
          <p:cNvSpPr/>
          <p:nvPr/>
        </p:nvSpPr>
        <p:spPr>
          <a:xfrm>
            <a:off x="935236" y="8557803"/>
            <a:ext cx="727352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Verificar containers rodando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ps</a:t>
            </a: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Verificar todos (inclusive parados)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ps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-a</a:t>
            </a:r>
          </a:p>
          <a:p>
            <a:pPr marL="0" indent="0" algn="l">
              <a:lnSpc>
                <a:spcPts val="1850"/>
              </a:lnSpc>
              <a:buNone/>
            </a:pPr>
            <a:endParaRPr lang="pt-BR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Logs do container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pt-BR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</a:t>
            </a:r>
            <a:r>
              <a:rPr lang="pt-BR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logs &lt;container-id&gt;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1671"/>
            <a:ext cx="59411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Interação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57763"/>
            <a:ext cx="438959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4. Interagindo com Containers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2819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o comando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interagir diretamente com um container em execução, permitindo a execução de comandos ou o acesso a um shell interativo dentro dele.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6406" y="5464454"/>
            <a:ext cx="6299121" cy="2837974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5613282"/>
            <a:ext cx="590240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Executar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comando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no container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 -it &lt;container-id&gt; bash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Acessar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shell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interativo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 -it &lt;container-id&gt; /bin/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sh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Executar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comando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específico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 &lt;container-id&gt; ls -la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874" y="30577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Possibilidades: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64874" y="3653076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86092" y="3874294"/>
            <a:ext cx="30503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Debug e Troubleshooting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86092" y="4382810"/>
            <a:ext cx="58369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Acesse o ambiente interno do container para depurar aplicações e identificar problemas.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64874" y="5437465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6092" y="56586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Manutenção Manual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6092" y="6167199"/>
            <a:ext cx="58369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Realize tarefas pontuais de manutenção ou instalação de ferramentas temporárias.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64874" y="7221855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6092" y="7443073"/>
            <a:ext cx="35755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Verificação de Estado Interno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86092" y="7951589"/>
            <a:ext cx="58369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Inspecione arquivos, processos e variáveis de ambiente para verificar o estado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157"/>
            <a:ext cx="7721679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Parada e Remoção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53051"/>
            <a:ext cx="2921675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5. Finalizando o Ciclo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358866"/>
            <a:ext cx="6291382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Após a utilização, os containers podem ser parados e removidos para liberar recursos. O Docker oferece comandos simples para gerenciar o fim do ciclo de vida de um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5917" y="4331164"/>
            <a:ext cx="6310193" cy="2696289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64393" y="4472491"/>
            <a:ext cx="5933242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Parar container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stop &lt;container-id&gt;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Remover container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parado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rm &lt;container-id&gt;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Auto-remover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sair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 --rm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nome-imagem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52849" y="2377678"/>
            <a:ext cx="357616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Características Efêmeras: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52849" y="3225879"/>
            <a:ext cx="6291382" cy="1769269"/>
          </a:xfrm>
          <a:prstGeom prst="roundRect">
            <a:avLst>
              <a:gd name="adj" fmla="val 6202"/>
            </a:avLst>
          </a:prstGeom>
          <a:solidFill>
            <a:srgbClr val="272525"/>
          </a:solidFill>
          <a:ln/>
        </p:spPr>
      </p:sp>
      <p:sp>
        <p:nvSpPr>
          <p:cNvPr id="10" name="Shape 8"/>
          <p:cNvSpPr/>
          <p:nvPr/>
        </p:nvSpPr>
        <p:spPr>
          <a:xfrm>
            <a:off x="7552849" y="3203019"/>
            <a:ext cx="6291382" cy="91440"/>
          </a:xfrm>
          <a:prstGeom prst="roundRect">
            <a:avLst>
              <a:gd name="adj" fmla="val 86605"/>
            </a:avLst>
          </a:prstGeom>
          <a:solidFill>
            <a:srgbClr val="2B0A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5707" y="2943106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B0A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71" y="3084433"/>
            <a:ext cx="226219" cy="2827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64185" y="36972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Descartáveis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64185" y="4180403"/>
            <a:ext cx="5868710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Containers são projetados para serem efêmeros e podem ser facilmente removidos quando não são mais necessários.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52849" y="5466398"/>
            <a:ext cx="6291382" cy="2070973"/>
          </a:xfrm>
          <a:prstGeom prst="roundRect">
            <a:avLst>
              <a:gd name="adj" fmla="val 5298"/>
            </a:avLst>
          </a:prstGeom>
          <a:solidFill>
            <a:srgbClr val="272525"/>
          </a:solidFill>
          <a:ln/>
        </p:spPr>
      </p:sp>
      <p:sp>
        <p:nvSpPr>
          <p:cNvPr id="16" name="Shape 13"/>
          <p:cNvSpPr/>
          <p:nvPr/>
        </p:nvSpPr>
        <p:spPr>
          <a:xfrm>
            <a:off x="7552849" y="5443538"/>
            <a:ext cx="6291382" cy="91440"/>
          </a:xfrm>
          <a:prstGeom prst="roundRect">
            <a:avLst>
              <a:gd name="adj" fmla="val 86605"/>
            </a:avLst>
          </a:prstGeom>
          <a:solidFill>
            <a:srgbClr val="2B0A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415707" y="5183624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B0A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371" y="5324951"/>
            <a:ext cx="226219" cy="2827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64185" y="593776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Dados Persistentes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64185" y="6420922"/>
            <a:ext cx="5868710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Os dados dentro de um container só persistem se forem armazenados em volumes externos, desacoplando o estado da aplicação do container em si.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552849" y="8008620"/>
            <a:ext cx="6291382" cy="2070973"/>
          </a:xfrm>
          <a:prstGeom prst="roundRect">
            <a:avLst>
              <a:gd name="adj" fmla="val 5298"/>
            </a:avLst>
          </a:prstGeom>
          <a:solidFill>
            <a:srgbClr val="272525"/>
          </a:solidFill>
          <a:ln/>
        </p:spPr>
      </p:sp>
      <p:sp>
        <p:nvSpPr>
          <p:cNvPr id="22" name="Shape 18"/>
          <p:cNvSpPr/>
          <p:nvPr/>
        </p:nvSpPr>
        <p:spPr>
          <a:xfrm>
            <a:off x="7552849" y="7985760"/>
            <a:ext cx="6291382" cy="91440"/>
          </a:xfrm>
          <a:prstGeom prst="roundRect">
            <a:avLst>
              <a:gd name="adj" fmla="val 86605"/>
            </a:avLst>
          </a:prstGeom>
          <a:solidFill>
            <a:srgbClr val="2B0AFF"/>
          </a:solidFill>
          <a:ln/>
        </p:spPr>
      </p:sp>
      <p:sp>
        <p:nvSpPr>
          <p:cNvPr id="23" name="Shape 19"/>
          <p:cNvSpPr/>
          <p:nvPr/>
        </p:nvSpPr>
        <p:spPr>
          <a:xfrm>
            <a:off x="10415707" y="7725847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B0A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5371" y="7867174"/>
            <a:ext cx="226219" cy="2827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64185" y="847998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Limpeza Regular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764185" y="8963144"/>
            <a:ext cx="5868710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Remover containers e imagens não utilizados regularmente é uma boa prática para liberar espaço em disco e otimizar os recursos do sistema.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41320"/>
            <a:ext cx="77362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CLI - Comandos Básicos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057412"/>
            <a:ext cx="379845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Fundamentais: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652724"/>
            <a:ext cx="6279356" cy="3155513"/>
          </a:xfrm>
          <a:prstGeom prst="roundRect">
            <a:avLst>
              <a:gd name="adj" fmla="val 2642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4652724"/>
            <a:ext cx="6299121" cy="3155513"/>
          </a:xfrm>
          <a:prstGeom prst="roundRect">
            <a:avLst>
              <a:gd name="adj" fmla="val 943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4801553"/>
            <a:ext cx="5902404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Executar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container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 -d --name app -p 3000:3000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Construir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build -t tag 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Baixar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enviar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imagens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pull ubuntu:20.04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push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usuario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64874" y="40574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Gerenciamento: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874" y="462784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listar containers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4874" y="50147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images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listar imagens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64874" y="54017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logs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visualizar logs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483"/>
            <a:ext cx="68151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CLI - Gerenciamento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92216"/>
            <a:ext cx="42933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de Administração: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385185"/>
            <a:ext cx="6279356" cy="3278082"/>
          </a:xfrm>
          <a:prstGeom prst="roundRect">
            <a:avLst>
              <a:gd name="adj" fmla="val 1757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385185"/>
            <a:ext cx="6299121" cy="3345815"/>
          </a:xfrm>
          <a:prstGeom prst="roundRect">
            <a:avLst>
              <a:gd name="adj" fmla="val 628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534013"/>
            <a:ext cx="5902404" cy="4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Gerenciar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containers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start/stop/restart &lt;id&gt;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rm &lt;id&gt;          # remover container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rmi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&lt;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&gt;      # remover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Limpeza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system prune      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limpar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recursos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não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usados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prune      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limpar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volumes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órfãos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64874" y="3385185"/>
            <a:ext cx="6557526" cy="1903571"/>
          </a:xfrm>
          <a:prstGeom prst="roundRect">
            <a:avLst>
              <a:gd name="adj" fmla="val 437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7734" y="3408045"/>
            <a:ext cx="793790" cy="1857851"/>
          </a:xfrm>
          <a:prstGeom prst="roundRect">
            <a:avLst>
              <a:gd name="adj" fmla="val 7046"/>
            </a:avLst>
          </a:prstGeom>
          <a:solidFill>
            <a:srgbClr val="11008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931" y="4150876"/>
            <a:ext cx="297656" cy="3720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79882" y="3606403"/>
            <a:ext cx="26606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Controle de Container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79882" y="4114919"/>
            <a:ext cx="52414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Gerencie o ciclo de vida dos containers, iniciando, parando e reiniciando conforme a necessidade de suas aplicações.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4874" y="5487113"/>
            <a:ext cx="6557526" cy="1713037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7734" y="5509974"/>
            <a:ext cx="793790" cy="1690176"/>
          </a:xfrm>
          <a:prstGeom prst="roundRect">
            <a:avLst>
              <a:gd name="adj" fmla="val 7046"/>
            </a:avLst>
          </a:prstGeom>
          <a:solidFill>
            <a:srgbClr val="11008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931" y="6094095"/>
            <a:ext cx="297656" cy="4082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79882" y="5708333"/>
            <a:ext cx="26524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Exclusão de Recursos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579882" y="6216848"/>
            <a:ext cx="52414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Remova containers e imagens para liberar espaço em disco e manter seu ambiente organizado.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564874" y="7398509"/>
            <a:ext cx="6557526" cy="1903571"/>
          </a:xfrm>
          <a:prstGeom prst="roundRect">
            <a:avLst>
              <a:gd name="adj" fmla="val 437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587734" y="7421369"/>
            <a:ext cx="793790" cy="1857851"/>
          </a:xfrm>
          <a:prstGeom prst="roundRect">
            <a:avLst>
              <a:gd name="adj" fmla="val 7046"/>
            </a:avLst>
          </a:prstGeom>
          <a:solidFill>
            <a:srgbClr val="11008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931" y="8164200"/>
            <a:ext cx="297656" cy="3720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79882" y="7619727"/>
            <a:ext cx="26573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Otimização e Limpeza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579882" y="8128243"/>
            <a:ext cx="52414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comandos de `prune` para limpar recursos não utilizados automaticamente, mantendo o sistema leve e eficiente.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33349"/>
            <a:ext cx="69682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CLI - Rede e Volumes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149441"/>
            <a:ext cx="336149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Avançados: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3744754"/>
            <a:ext cx="3536156" cy="3155513"/>
          </a:xfrm>
          <a:prstGeom prst="roundRect">
            <a:avLst>
              <a:gd name="adj" fmla="val 2642"/>
            </a:avLst>
          </a:prstGeom>
          <a:solidFill>
            <a:srgbClr val="343232"/>
          </a:solidFill>
          <a:ln/>
        </p:spPr>
      </p:sp>
      <p:sp>
        <p:nvSpPr>
          <p:cNvPr id="6" name="Shape 3"/>
          <p:cNvSpPr/>
          <p:nvPr/>
        </p:nvSpPr>
        <p:spPr>
          <a:xfrm>
            <a:off x="783908" y="3744754"/>
            <a:ext cx="3889692" cy="3155513"/>
          </a:xfrm>
          <a:prstGeom prst="roundRect">
            <a:avLst>
              <a:gd name="adj" fmla="val 943"/>
            </a:avLst>
          </a:prstGeom>
          <a:solidFill>
            <a:srgbClr val="343232"/>
          </a:solidFill>
          <a:ln/>
        </p:spPr>
      </p:sp>
      <p:sp>
        <p:nvSpPr>
          <p:cNvPr id="7" name="Text 4"/>
          <p:cNvSpPr/>
          <p:nvPr/>
        </p:nvSpPr>
        <p:spPr>
          <a:xfrm>
            <a:off x="982265" y="3893582"/>
            <a:ext cx="4335541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Gerenciar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redes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create rede-app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ls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inspect bridge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Gerenciar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volumes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create dados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ls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inspect dados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943" y="3182792"/>
            <a:ext cx="496133" cy="4961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34943" y="39269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Redes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134943" y="4435449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Facilitam a comunicação entre containers e o mundo exterior, garantindo isolamento e organização para suas aplicações distribuídas.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4943" y="6201741"/>
            <a:ext cx="496133" cy="4961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4943" y="69458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Volumes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134943" y="7454398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Garantem a persistência de dados fora do ciclo de vida do container, prevenindo a perda de informações cruciais ao remover containers.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1382"/>
            <a:ext cx="5904309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Dockerfile - Estrutura Básica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361480"/>
            <a:ext cx="279701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Essenciais: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1930718"/>
            <a:ext cx="6458188" cy="506016"/>
          </a:xfrm>
          <a:prstGeom prst="roundRect">
            <a:avLst>
              <a:gd name="adj" fmla="val 4800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320" y="2025610"/>
            <a:ext cx="253008" cy="316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2382" y="260532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FROM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2382" y="2970014"/>
            <a:ext cx="612100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imagem base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o build, como um sistema operacional ou ambiente de execução.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78422" y="1930718"/>
            <a:ext cx="6458188" cy="506016"/>
          </a:xfrm>
          <a:prstGeom prst="roundRect">
            <a:avLst>
              <a:gd name="adj" fmla="val 4800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953" y="2025610"/>
            <a:ext cx="253008" cy="316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7015" y="260532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WORKDIR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547015" y="2970014"/>
            <a:ext cx="612100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Configura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diretório de trabalho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comandos subsequentes no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93790" y="3804880"/>
            <a:ext cx="6458188" cy="506016"/>
          </a:xfrm>
          <a:prstGeom prst="roundRect">
            <a:avLst>
              <a:gd name="adj" fmla="val 4800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6320" y="3899773"/>
            <a:ext cx="253008" cy="3162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2382" y="447948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COPY / ADD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62382" y="4844177"/>
            <a:ext cx="612100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Copia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arquivos e diretórios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 host para o sistema de arquivos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378422" y="3804880"/>
            <a:ext cx="6458188" cy="506016"/>
          </a:xfrm>
          <a:prstGeom prst="roundRect">
            <a:avLst>
              <a:gd name="adj" fmla="val 4800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0953" y="3899773"/>
            <a:ext cx="253008" cy="3162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47015" y="447948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547015" y="4844177"/>
            <a:ext cx="612100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Executa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durante o processo de build para instalar dependências ou configurar o ambiente.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793790" y="5679043"/>
            <a:ext cx="6458188" cy="506016"/>
          </a:xfrm>
          <a:prstGeom prst="roundRect">
            <a:avLst>
              <a:gd name="adj" fmla="val 4800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320" y="5773936"/>
            <a:ext cx="253008" cy="31623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2382" y="635365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EXPOSE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962382" y="6718340"/>
            <a:ext cx="612100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Documenta 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porta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em que a aplicação dentro do container escuta (não a publica).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7378422" y="5679043"/>
            <a:ext cx="6458188" cy="506016"/>
          </a:xfrm>
          <a:prstGeom prst="roundRect">
            <a:avLst>
              <a:gd name="adj" fmla="val 48008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0953" y="5773936"/>
            <a:ext cx="253008" cy="31623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47015" y="635365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CMD / ENTRYPOINT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7547015" y="6718340"/>
            <a:ext cx="612100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 padrão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ser executado quando um container é iniciado a partir desta imagem.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93790" y="767976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Exemplo Prático: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793790" y="8249007"/>
            <a:ext cx="13042821" cy="2142292"/>
          </a:xfrm>
          <a:prstGeom prst="roundRect">
            <a:avLst>
              <a:gd name="adj" fmla="val 3307"/>
            </a:avLst>
          </a:prstGeom>
          <a:solidFill>
            <a:srgbClr val="343232"/>
          </a:solidFill>
          <a:ln/>
        </p:spPr>
      </p:sp>
      <p:sp>
        <p:nvSpPr>
          <p:cNvPr id="30" name="Shape 22"/>
          <p:cNvSpPr/>
          <p:nvPr/>
        </p:nvSpPr>
        <p:spPr>
          <a:xfrm>
            <a:off x="785455" y="8249007"/>
            <a:ext cx="13059489" cy="2503660"/>
          </a:xfrm>
          <a:prstGeom prst="roundRect">
            <a:avLst>
              <a:gd name="adj" fmla="val 1181"/>
            </a:avLst>
          </a:prstGeom>
          <a:solidFill>
            <a:srgbClr val="343232"/>
          </a:solidFill>
          <a:ln/>
        </p:spPr>
      </p:sp>
      <p:sp>
        <p:nvSpPr>
          <p:cNvPr id="31" name="Text 23"/>
          <p:cNvSpPr/>
          <p:nvPr/>
        </p:nvSpPr>
        <p:spPr>
          <a:xfrm>
            <a:off x="954048" y="8375452"/>
            <a:ext cx="12722304" cy="1889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node:16             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WORKDIR /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/app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Diretório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package*.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./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Copiar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dependências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install           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. .                       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Copiar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EXPOSE 3000             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porta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 ["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"start"]               #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padrão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8883"/>
            <a:ext cx="7686675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Dockerfile - Instruções Principais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460778"/>
            <a:ext cx="312753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Essenciais: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96929"/>
            <a:ext cx="471368" cy="471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80392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FROM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211711"/>
            <a:ext cx="6403538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imagem base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partir da qual o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Dockerfile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ts val="235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será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construído.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953" y="2096929"/>
            <a:ext cx="471368" cy="471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2953" y="280392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WORKDIR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32953" y="3211711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Configura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diretório de trabalho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comandos subsequentes no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86488"/>
            <a:ext cx="471368" cy="4713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499348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COPY / ADD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5401270"/>
            <a:ext cx="640353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Copia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arquivos e diretórios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 seu sistema para o sistema de arquivos da imagem.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953" y="4286488"/>
            <a:ext cx="471368" cy="4713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2953" y="499348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32953" y="5401270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Executa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durante a fase de build da imagem, como instalação de pacotes.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476047"/>
            <a:ext cx="471368" cy="4713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718304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ENV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93790" y="7590830"/>
            <a:ext cx="640353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variáveis de ambiente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estarão disponíveis no container em tempo de execução.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2953" y="6476047"/>
            <a:ext cx="471368" cy="4713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32953" y="718304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EXPOSE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32953" y="7590830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Documenta as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portas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a aplicação dentro do container irá escutar (não publica a porta).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8665607"/>
            <a:ext cx="471368" cy="4713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3790" y="937260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VOLUME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793790" y="9780389"/>
            <a:ext cx="640353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Cria um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ponto de montagem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volumes externos, persistindo dados fora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2953" y="8665607"/>
            <a:ext cx="471368" cy="4713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32953" y="937260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CMD / ENTRYPOINT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7432953" y="9780389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 padrão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será executado quando um container for iniciado a partir da imagem.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1105</Words>
  <Application>Microsoft Office PowerPoint</Application>
  <PresentationFormat>Personalizar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viniciusai gamePlay</dc:creator>
  <cp:lastModifiedBy>viniciusai gamePlay</cp:lastModifiedBy>
  <cp:revision>5</cp:revision>
  <dcterms:created xsi:type="dcterms:W3CDTF">2025-08-03T18:57:46Z</dcterms:created>
  <dcterms:modified xsi:type="dcterms:W3CDTF">2025-08-03T19:56:31Z</dcterms:modified>
</cp:coreProperties>
</file>