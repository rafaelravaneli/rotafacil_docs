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4630400" cy="10972800"/>
  <p:notesSz cx="10972800" cy="14630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1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49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09136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Introdução ao Pandas e Manipulação de Dados Tabulares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767024"/>
            <a:ext cx="725912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Programação Avançada - 3º Bimestre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55608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Objetivos da Aula: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8199" y="6294953"/>
            <a:ext cx="6911578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🐼</a:t>
            </a:r>
            <a:r>
              <a:rPr lang="en-US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Apresentar a biblioteca Pandas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8199" y="7138273"/>
            <a:ext cx="6911578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📋</a:t>
            </a:r>
            <a:r>
              <a:rPr lang="en-US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Ensinar a carregar, inspecionar, limpar e transformar dados tabulares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8199" y="7981593"/>
            <a:ext cx="6911578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🛠️</a:t>
            </a:r>
            <a:r>
              <a:rPr lang="en-US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Realizar exercícios práticos com dados reais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6E3C2E3-F8CB-1658-2F2E-1F47092084B8}"/>
              </a:ext>
            </a:extLst>
          </p:cNvPr>
          <p:cNvSpPr txBox="1"/>
          <p:nvPr/>
        </p:nvSpPr>
        <p:spPr>
          <a:xfrm>
            <a:off x="6408199" y="9131613"/>
            <a:ext cx="73218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Docente: Vinícius Mota </a:t>
            </a:r>
            <a:r>
              <a:rPr lang="pt-BR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Zulianelli</a:t>
            </a:r>
            <a:endParaRPr lang="pt-B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6925"/>
            <a:ext cx="4961811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 que é Pandas? </a:t>
            </a:r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🐼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999899"/>
            <a:ext cx="457104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Pandas = Panel Data Structures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6962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Pandas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é uma biblioteca Python essencial para análise e manipulação de dados.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284821"/>
            <a:ext cx="314158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Por que usar Pandas?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4954548"/>
            <a:ext cx="4215289" cy="1085136"/>
          </a:xfrm>
          <a:prstGeom prst="roundRect">
            <a:avLst>
              <a:gd name="adj" fmla="val 10112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4954548"/>
            <a:ext cx="91440" cy="108513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8" name="Text 6"/>
          <p:cNvSpPr/>
          <p:nvPr/>
        </p:nvSpPr>
        <p:spPr>
          <a:xfrm>
            <a:off x="1083588" y="5175766"/>
            <a:ext cx="370427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📊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Manipulação eficiente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dados estruturados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07437" y="4954548"/>
            <a:ext cx="4215408" cy="1085136"/>
          </a:xfrm>
          <a:prstGeom prst="roundRect">
            <a:avLst>
              <a:gd name="adj" fmla="val 10112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84577" y="4954548"/>
            <a:ext cx="91440" cy="108513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1" name="Text 9"/>
          <p:cNvSpPr/>
          <p:nvPr/>
        </p:nvSpPr>
        <p:spPr>
          <a:xfrm>
            <a:off x="5497235" y="5175766"/>
            <a:ext cx="3857150" cy="863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🔧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Limpeza e </a:t>
            </a:r>
            <a:r>
              <a:rPr lang="en-US" sz="2000" b="1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transformação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 dados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21203" y="4954548"/>
            <a:ext cx="4215289" cy="1085136"/>
          </a:xfrm>
          <a:prstGeom prst="roundRect">
            <a:avLst>
              <a:gd name="adj" fmla="val 10112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98343" y="4954548"/>
            <a:ext cx="91440" cy="108513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4" name="Text 12"/>
          <p:cNvSpPr/>
          <p:nvPr/>
        </p:nvSpPr>
        <p:spPr>
          <a:xfrm>
            <a:off x="9911001" y="5175766"/>
            <a:ext cx="3704273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📈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Análise exploratória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dados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3790" y="6238042"/>
            <a:ext cx="6422112" cy="1085136"/>
          </a:xfrm>
          <a:prstGeom prst="roundRect">
            <a:avLst>
              <a:gd name="adj" fmla="val 10112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930" y="6238042"/>
            <a:ext cx="91440" cy="108513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83588" y="6459260"/>
            <a:ext cx="591109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🔗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Integração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com outras bibliotecas (NumPy, Matplotlib, Scikit-learn)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14260" y="6238042"/>
            <a:ext cx="6422231" cy="1085136"/>
          </a:xfrm>
          <a:prstGeom prst="roundRect">
            <a:avLst>
              <a:gd name="adj" fmla="val 10112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1400" y="6238042"/>
            <a:ext cx="91440" cy="108513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04058" y="6459260"/>
            <a:ext cx="5911215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📁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Leitura/escrita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múltiplos formatos (CSV, Excel, JSON, SQL, etc.)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3790" y="762083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Instalação: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93790" y="8290560"/>
            <a:ext cx="13042821" cy="615196"/>
          </a:xfrm>
          <a:prstGeom prst="roundRect">
            <a:avLst>
              <a:gd name="adj" fmla="val 13550"/>
            </a:avLst>
          </a:prstGeom>
          <a:solidFill>
            <a:srgbClr val="343232"/>
          </a:solidFill>
          <a:ln/>
        </p:spPr>
      </p:sp>
      <p:sp>
        <p:nvSpPr>
          <p:cNvPr id="23" name="Shape 21"/>
          <p:cNvSpPr/>
          <p:nvPr/>
        </p:nvSpPr>
        <p:spPr>
          <a:xfrm>
            <a:off x="783908" y="8290560"/>
            <a:ext cx="13062585" cy="615196"/>
          </a:xfrm>
          <a:prstGeom prst="roundRect">
            <a:avLst>
              <a:gd name="adj" fmla="val 4839"/>
            </a:avLst>
          </a:prstGeom>
          <a:solidFill>
            <a:srgbClr val="343232"/>
          </a:solidFill>
          <a:ln/>
        </p:spPr>
      </p:sp>
      <p:sp>
        <p:nvSpPr>
          <p:cNvPr id="24" name="Text 22"/>
          <p:cNvSpPr/>
          <p:nvPr/>
        </p:nvSpPr>
        <p:spPr>
          <a:xfrm>
            <a:off x="982266" y="8439388"/>
            <a:ext cx="1266586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pip install pandas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6446"/>
            <a:ext cx="5462468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Importando Pandas </a:t>
            </a: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📦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78599"/>
            <a:ext cx="13042821" cy="4108133"/>
          </a:xfrm>
          <a:prstGeom prst="roundRect">
            <a:avLst>
              <a:gd name="adj" fmla="val 2029"/>
            </a:avLst>
          </a:prstGeom>
          <a:solidFill>
            <a:srgbClr val="34323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3078599"/>
            <a:ext cx="13062585" cy="4965471"/>
          </a:xfrm>
          <a:prstGeom prst="roundRect">
            <a:avLst>
              <a:gd name="adj" fmla="val 725"/>
            </a:avLst>
          </a:prstGeom>
          <a:solidFill>
            <a:srgbClr val="343232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860869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0A2FE24-040E-66F3-D1C2-A76E2F17C58D}"/>
              </a:ext>
            </a:extLst>
          </p:cNvPr>
          <p:cNvSpPr txBox="1"/>
          <p:nvPr/>
        </p:nvSpPr>
        <p:spPr>
          <a:xfrm>
            <a:off x="954155" y="3246389"/>
            <a:ext cx="103632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Importando as bibliotecas necessárias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pandas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pd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np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plt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seaborn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sns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Configurações para melhor visualização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pd.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set_option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display.max_columns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pd.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set_option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display.width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pd.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set_option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display.max_colwidth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✅ Pandas importado com sucesso!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"📊 Versão do Pandas: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.__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"🔢 Versão do 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.__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0110"/>
            <a:ext cx="7642979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Estruturas de Dados - Series </a:t>
            </a:r>
            <a:r>
              <a:rPr lang="en-US" sz="39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📈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01144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 que é uma Series?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58187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Uma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Series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é uma estrutura de dados unidimensional com rótulos (index).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41530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Características: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985736"/>
            <a:ext cx="627935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🏷️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Indexada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cada elemento tem um rótulo único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380309"/>
            <a:ext cx="627935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🔢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Homogênea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todos os elementos do mesmo tipo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4774883"/>
            <a:ext cx="627935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📊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Baseada em NumPy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performance otimizada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529840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Analogias: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586882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Como uma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coluna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uma planilha Excel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625578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Como um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array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NumPy com rótulos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664273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Como uma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lista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Python com índices personalizados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64874" y="2036326"/>
            <a:ext cx="6279356" cy="1250275"/>
          </a:xfrm>
          <a:prstGeom prst="roundRect">
            <a:avLst>
              <a:gd name="adj" fmla="val 6667"/>
            </a:avLst>
          </a:prstGeom>
          <a:solidFill>
            <a:srgbClr val="343232"/>
          </a:solidFill>
          <a:ln/>
        </p:spPr>
      </p:sp>
      <p:sp>
        <p:nvSpPr>
          <p:cNvPr id="14" name="Shape 12"/>
          <p:cNvSpPr/>
          <p:nvPr/>
        </p:nvSpPr>
        <p:spPr>
          <a:xfrm>
            <a:off x="7537489" y="1933319"/>
            <a:ext cx="6299121" cy="8644926"/>
          </a:xfrm>
          <a:prstGeom prst="roundRect">
            <a:avLst>
              <a:gd name="adj" fmla="val 2381"/>
            </a:avLst>
          </a:prstGeom>
          <a:solidFill>
            <a:srgbClr val="343232"/>
          </a:solidFill>
          <a:ln/>
        </p:spPr>
      </p:sp>
      <p:sp>
        <p:nvSpPr>
          <p:cNvPr id="15" name="Text 13"/>
          <p:cNvSpPr/>
          <p:nvPr/>
        </p:nvSpPr>
        <p:spPr>
          <a:xfrm>
            <a:off x="7753350" y="2185154"/>
            <a:ext cx="5902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38CE339-6B7E-CE94-47CC-988FC6207C9C}"/>
              </a:ext>
            </a:extLst>
          </p:cNvPr>
          <p:cNvSpPr txBox="1"/>
          <p:nvPr/>
        </p:nvSpPr>
        <p:spPr>
          <a:xfrm>
            <a:off x="7564874" y="2387283"/>
            <a:ext cx="6271736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Exemplo 1: Criando Series a partir de uma lista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notas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pd.</a:t>
            </a:r>
            <a:r>
              <a:rPr lang="pt-BR" b="0" dirty="0" err="1">
                <a:solidFill>
                  <a:srgbClr val="8BE9FD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Series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8.5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9.0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7.5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8.0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9.5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])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📋 Notas dos alunos: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(notas)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Exemplo 2: Series com índices personalizados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alunos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Ana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Bruno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Carlos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Diana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Eduardo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]</a:t>
            </a: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notas_nomeadas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pd.</a:t>
            </a:r>
            <a:r>
              <a:rPr lang="pt-BR" b="0" dirty="0" err="1">
                <a:solidFill>
                  <a:srgbClr val="8BE9FD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Series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8.5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9.0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7.5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8.0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9.5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], </a:t>
            </a:r>
            <a:r>
              <a:rPr lang="pt-BR" b="0" i="1" dirty="0">
                <a:solidFill>
                  <a:srgbClr val="FFB86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index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alunos)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📋 Notas com nomes dos alunos: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notas_nomeadas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Exemplo 3: Acessando elementos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"📝 Nota do Bruno: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notas_nomeadas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Bruno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"📝 Nota da Diana: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notas_nomeadas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Diana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Exemplo 4: Operações básicas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"📊 Média das notas: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notas_nomeadas.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mean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()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:.2f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"📊 Maior nota: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notas_nomeadas.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max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()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  <a:p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"📊 Menor nota: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notas_nomeadas.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min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()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270"/>
            <a:ext cx="8742045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Estruturas de Dados - DataFrame 📊</a:t>
            </a:r>
            <a:endParaRPr lang="en-US" sz="4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36602"/>
            <a:ext cx="343995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 que é um DataFrame?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90703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Um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DataFrame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é uma estrutura de dados bidimensional com rótulos nas linhas e colunas.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7404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Características: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310896"/>
            <a:ext cx="627935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📋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Tabular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formato de planilha/tabela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705469"/>
            <a:ext cx="627935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🏷️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Indexado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linhas e colunas com rótulos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100042"/>
            <a:ext cx="627935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🔀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Heterogêneo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diferentes tipos de dados por coluna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5494615"/>
            <a:ext cx="627935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💪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Poderoso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operações complexas simplificadas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601813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Analogias: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658856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Como uma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planilha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do Excel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697551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Como uma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tabela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banco de dados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736246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Como um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conjunto de Series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organizadas em colunas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564874" y="2361486"/>
            <a:ext cx="6279356" cy="3790593"/>
          </a:xfrm>
          <a:prstGeom prst="roundRect">
            <a:avLst>
              <a:gd name="adj" fmla="val 2199"/>
            </a:avLst>
          </a:prstGeom>
          <a:solidFill>
            <a:srgbClr val="343232"/>
          </a:solidFill>
          <a:ln/>
        </p:spPr>
      </p:sp>
      <p:sp>
        <p:nvSpPr>
          <p:cNvPr id="15" name="Shape 13"/>
          <p:cNvSpPr/>
          <p:nvPr/>
        </p:nvSpPr>
        <p:spPr>
          <a:xfrm>
            <a:off x="7554992" y="2361486"/>
            <a:ext cx="6783860" cy="7565417"/>
          </a:xfrm>
          <a:prstGeom prst="roundRect">
            <a:avLst>
              <a:gd name="adj" fmla="val 785"/>
            </a:avLst>
          </a:prstGeom>
          <a:solidFill>
            <a:srgbClr val="343232"/>
          </a:solidFill>
          <a:ln/>
        </p:spPr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E348720-D108-32AB-1B05-DEFB08AED49F}"/>
              </a:ext>
            </a:extLst>
          </p:cNvPr>
          <p:cNvSpPr txBox="1"/>
          <p:nvPr/>
        </p:nvSpPr>
        <p:spPr>
          <a:xfrm>
            <a:off x="7709938" y="2708672"/>
            <a:ext cx="661613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Exemplo 1: Criando </a:t>
            </a:r>
            <a:r>
              <a:rPr lang="pt-BR" b="0" dirty="0" err="1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 a partir de um dicionário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dados_alunos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Ana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Bruno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Carlos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Diana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Eduardo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Idade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Curso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Engenharia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Medicina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Direito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Psicologia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Engenharia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Nota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8.5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9.0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7.5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8.0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9.5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df_alunos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pd.</a:t>
            </a:r>
            <a:r>
              <a:rPr lang="pt-BR" b="0" dirty="0" err="1">
                <a:solidFill>
                  <a:srgbClr val="8BE9FD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dados_alunos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👥 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de Alunos: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df_alunos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Exemplo 2: Informações básicas do </a:t>
            </a:r>
            <a:r>
              <a:rPr lang="pt-BR" b="0" dirty="0" err="1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DataFrame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📊 Informações básicas: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"📏 Formato (linhas, colunas):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df_alunos.shape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"📋 Colunas: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8BE9FD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df_alunos.columns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"🔢 Tipos de dados:"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df_alunos.dtypes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5044"/>
            <a:ext cx="5450086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Leitura de Arquivos 📁</a:t>
            </a:r>
            <a:endParaRPr lang="en-US" sz="3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38018"/>
            <a:ext cx="43695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Principais Funções de Leitura:</a:t>
            </a:r>
            <a:endParaRPr lang="en-US" sz="2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907744"/>
            <a:ext cx="13042821" cy="4314111"/>
          </a:xfrm>
          <a:prstGeom prst="roundRect">
            <a:avLst>
              <a:gd name="adj" fmla="val 193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915364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1197" y="3042047"/>
            <a:ext cx="394108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Formato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46621" y="3042047"/>
            <a:ext cx="393727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Função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88235" y="3042047"/>
            <a:ext cx="394108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Exemplo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1410" y="3565684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1197" y="3692366"/>
            <a:ext cx="394108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CSV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46621" y="3692366"/>
            <a:ext cx="393727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pd.read_csv()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88235" y="3692366"/>
            <a:ext cx="394108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pd.read_csv('dados.csv')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1410" y="4216003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1197" y="4342686"/>
            <a:ext cx="394108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Excel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46621" y="4342686"/>
            <a:ext cx="393727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pd.read_excel()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88235" y="4342686"/>
            <a:ext cx="394108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pd.read_excel('planilha.xlsx')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1410" y="4866323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1197" y="4993005"/>
            <a:ext cx="394108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JSON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46621" y="4993005"/>
            <a:ext cx="393727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pd.read_json()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88235" y="4993005"/>
            <a:ext cx="394108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pd.read_json('dados.json')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1410" y="5516642"/>
            <a:ext cx="13026271" cy="10472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01197" y="5643324"/>
            <a:ext cx="394108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SQL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46621" y="5643324"/>
            <a:ext cx="393727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pd.read_sql()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88235" y="5643324"/>
            <a:ext cx="3941088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pd.read_sql('SELECT * FROM tabela', conn)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1410" y="6563916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01197" y="6690598"/>
            <a:ext cx="394108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HTML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346621" y="6690598"/>
            <a:ext cx="393727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pd.read_html()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88235" y="6690598"/>
            <a:ext cx="394108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pd.read_html('pagina.html')</a:t>
            </a:r>
            <a:endParaRPr lang="en-US" sz="1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3790" y="7519511"/>
            <a:ext cx="36125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Parâmetros Importantes: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3790" y="818923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sep: separador (padrão: vírgula)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93790" y="857619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header: linha do cabeçalho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93790" y="896314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index_col: coluna para usar como índice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3790" y="935009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encoding: codificação do arquivo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14005"/>
            <a:ext cx="13042821" cy="8553688"/>
          </a:xfrm>
          <a:prstGeom prst="roundRect">
            <a:avLst>
              <a:gd name="adj" fmla="val 975"/>
            </a:avLst>
          </a:prstGeom>
          <a:solidFill>
            <a:srgbClr val="343232"/>
          </a:solidFill>
          <a:ln/>
        </p:spPr>
      </p:sp>
      <p:sp>
        <p:nvSpPr>
          <p:cNvPr id="3" name="Shape 1"/>
          <p:cNvSpPr/>
          <p:nvPr/>
        </p:nvSpPr>
        <p:spPr>
          <a:xfrm>
            <a:off x="783908" y="614005"/>
            <a:ext cx="13062585" cy="8553688"/>
          </a:xfrm>
          <a:prstGeom prst="roundRect">
            <a:avLst>
              <a:gd name="adj" fmla="val 348"/>
            </a:avLst>
          </a:prstGeom>
          <a:solidFill>
            <a:srgbClr val="343232"/>
          </a:solidFill>
          <a:ln/>
        </p:spPr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3F2A1BB-6353-FDF3-6630-11D30CE5F50C}"/>
              </a:ext>
            </a:extLst>
          </p:cNvPr>
          <p:cNvSpPr txBox="1"/>
          <p:nvPr/>
        </p:nvSpPr>
        <p:spPr>
          <a:xfrm>
            <a:off x="993913" y="799601"/>
            <a:ext cx="12852580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Criando um arquivo CSV de exemplo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os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Criando dados de exemplo (simulando </a:t>
            </a:r>
            <a:r>
              <a:rPr lang="pt-BR" b="0" dirty="0" err="1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dataset</a:t>
            </a: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 Titanic simplificado)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dados_titanic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PassengerId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8BE9FD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Survived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Pclass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Braund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, Mr. Owen Harris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Cumings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, Mrs. John Bradley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Heikkinen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, Miss. 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Laina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Futrelle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, Mrs. Jacques Heath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Allen, Mr. William Henry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Moran, Mr. James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McCarthy, Mr. Timothy J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Palsson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, Master. Gosta Leonard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Johnson, Mrs. Oscar W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Nasser, Mrs. Nicholas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Sex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      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38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Fare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7.25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71.28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7.92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53.10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8.05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8.46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51.86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21.07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11.13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30.07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df_exemplo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pd.</a:t>
            </a:r>
            <a:r>
              <a:rPr lang="pt-BR" b="0" dirty="0" err="1">
                <a:solidFill>
                  <a:srgbClr val="8BE9FD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dados_titanic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Salvando como CSV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os.path.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os.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makedirs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df_exemplo.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to_csv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data/titanic_exemplo.csv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i="1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✅ Arquivo CSV criado: data/titanic_exemplo.csv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📋 Primeiras linhas do 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dataset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df_exemplo.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3748"/>
            <a:ext cx="7556421" cy="1255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Exemplo Prático - Lendo CSV </a:t>
            </a: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📖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966799"/>
            <a:ext cx="7556421" cy="1567815"/>
          </a:xfrm>
          <a:prstGeom prst="roundRect">
            <a:avLst>
              <a:gd name="adj" fmla="val 5317"/>
            </a:avLst>
          </a:prstGeom>
          <a:solidFill>
            <a:srgbClr val="343232"/>
          </a:solidFill>
          <a:ln/>
        </p:spPr>
      </p:sp>
      <p:sp>
        <p:nvSpPr>
          <p:cNvPr id="5" name="Shape 2"/>
          <p:cNvSpPr/>
          <p:nvPr/>
        </p:nvSpPr>
        <p:spPr>
          <a:xfrm>
            <a:off x="783908" y="2966799"/>
            <a:ext cx="7576185" cy="5527844"/>
          </a:xfrm>
          <a:prstGeom prst="roundRect">
            <a:avLst>
              <a:gd name="adj" fmla="val 1899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" name="Text 3"/>
          <p:cNvSpPr/>
          <p:nvPr/>
        </p:nvSpPr>
        <p:spPr>
          <a:xfrm>
            <a:off x="982266" y="3115627"/>
            <a:ext cx="717946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B77C544-6843-362D-B7FE-147AB8BE2310}"/>
              </a:ext>
            </a:extLst>
          </p:cNvPr>
          <p:cNvSpPr txBox="1"/>
          <p:nvPr/>
        </p:nvSpPr>
        <p:spPr>
          <a:xfrm>
            <a:off x="846535" y="3140000"/>
            <a:ext cx="7315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Lendo o arquivo CSV que acabamos de criar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pd.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data/titanic_exemplo.csv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📁 Carregando dados do Titanic...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✅ Arquivo carregado com sucesso!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Diferentes formas de visualizar os dados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🔍 Primeiras 5 linhas (.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()):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🔍 Últimas 3 linhas (.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(3)):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🔍 Amostra aleatória (.sample(3)):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8359"/>
            <a:ext cx="10649783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Inspeção de Dados - Métodos Essenciais </a:t>
            </a:r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🔍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41333"/>
            <a:ext cx="350936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Métodos Fundamentais: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711059"/>
            <a:ext cx="13042821" cy="5153382"/>
          </a:xfrm>
          <a:prstGeom prst="roundRect">
            <a:avLst>
              <a:gd name="adj" fmla="val 161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718679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1197" y="3845362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Método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46621" y="3845362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Descrição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88235" y="3845362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Uso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1410" y="4289584"/>
            <a:ext cx="1302627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1197" y="441626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.head(n)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46621" y="4416266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Primeiras n linhas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88235" y="441626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df.head(5)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1410" y="4860488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1197" y="4987171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.tail(n)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46621" y="4987171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Últimas n linhas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88235" y="4987171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df.tail(3)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1410" y="5431393"/>
            <a:ext cx="1302627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1197" y="555807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.info()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46621" y="5558076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Informações gerais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88235" y="555807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df.info()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1410" y="6002298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01197" y="6128980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.describe()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46621" y="6128980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Estatísticas descritivas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88235" y="6128980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df.describe()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1410" y="6573203"/>
            <a:ext cx="1302627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01197" y="6699885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.shape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346621" y="6699885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Dimensões (linhas, colunas)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88235" y="6699885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df.shape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1410" y="7144107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01197" y="7270790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.dtypes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46621" y="7270790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Tipos de dados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688235" y="7270790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df.dtypes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01410" y="7715012"/>
            <a:ext cx="1302627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01197" y="7841694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.columns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346621" y="7841694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Nomes das colunas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688235" y="7841694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df.columns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01410" y="8285917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01197" y="8412599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.index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346621" y="8412599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Índices das linhas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688235" y="8412599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df.index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4218"/>
            <a:ext cx="98820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Demonstração dos Métodos de Inspeção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381131"/>
            <a:ext cx="13042821" cy="615196"/>
          </a:xfrm>
          <a:prstGeom prst="roundRect">
            <a:avLst>
              <a:gd name="adj" fmla="val 13550"/>
            </a:avLst>
          </a:prstGeom>
          <a:solidFill>
            <a:srgbClr val="34323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2381130"/>
            <a:ext cx="13062585" cy="6484573"/>
          </a:xfrm>
          <a:prstGeom prst="roundRect">
            <a:avLst>
              <a:gd name="adj" fmla="val 4839"/>
            </a:avLst>
          </a:prstGeom>
          <a:solidFill>
            <a:srgbClr val="343232"/>
          </a:solidFill>
          <a:ln/>
        </p:spPr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BA8AB6D-AB2E-1D3F-4449-BE905A5154EF}"/>
              </a:ext>
            </a:extLst>
          </p:cNvPr>
          <p:cNvSpPr txBox="1"/>
          <p:nvPr/>
        </p:nvSpPr>
        <p:spPr>
          <a:xfrm>
            <a:off x="1060173" y="2531745"/>
            <a:ext cx="1058848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Demonstração dos Métodos de Inspeção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📊 INFORMAÇÕES GERAIS (.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()):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📏 FORMATO DOS DADOS (.shape):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"Linhas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, Colunas: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🔢 TIPOS DE DADOS (.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dtypes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df.dtypes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📋 NOMES DAS COLUNAS (.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8BE9FD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df.columns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📊 ESTATÍSTICAS DESCRITIVAS (.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()):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82666"/>
            <a:ext cx="9885759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Limpeza de Dados - Valores Ausentes </a:t>
            </a:r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🧹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413998"/>
            <a:ext cx="441388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Detectando Valores Ausentes: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4009311"/>
            <a:ext cx="6279356" cy="3561398"/>
          </a:xfrm>
          <a:prstGeom prst="roundRect">
            <a:avLst>
              <a:gd name="adj" fmla="val 256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4016931"/>
            <a:ext cx="6263402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0601" y="4143613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Método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91934" y="4143613"/>
            <a:ext cx="168318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Descrição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79457" y="4143613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Exemplo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1410" y="4587835"/>
            <a:ext cx="6263402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0601" y="4714518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.isnull()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91934" y="4714518"/>
            <a:ext cx="168318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Detecta valores nulos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79457" y="4714518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df.isnull()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1410" y="5476279"/>
            <a:ext cx="6263402" cy="10548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0601" y="5642718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.notnull()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84195" y="5490720"/>
            <a:ext cx="168318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Detecta valores não-nulos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79457" y="5642718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df.notnull()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1410" y="6404480"/>
            <a:ext cx="6263402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000601" y="6570919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.isnull().sum()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091934" y="6570919"/>
            <a:ext cx="168318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Conta valores nulos por coluna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79457" y="6584171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df.isnull().sum()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64874" y="3413998"/>
            <a:ext cx="403490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Tratando Valores Ausentes: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564874" y="4009311"/>
            <a:ext cx="6279356" cy="4457462"/>
          </a:xfrm>
          <a:prstGeom prst="roundRect">
            <a:avLst>
              <a:gd name="adj" fmla="val 187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72494" y="4016931"/>
            <a:ext cx="6263402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71686" y="4143613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Método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863018" y="4143613"/>
            <a:ext cx="168318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Descrição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950541" y="4143613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Exemplo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572494" y="4587835"/>
            <a:ext cx="6263402" cy="12059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71686" y="4714518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.dropna()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863018" y="4714518"/>
            <a:ext cx="168318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Remove linhas com valores nulos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950541" y="4714518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df.dropna()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572494" y="5793819"/>
            <a:ext cx="6263402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71686" y="5920502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.fillna()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863018" y="5920502"/>
            <a:ext cx="168318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Preenche valores nulos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950541" y="5920502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df.fillna(0)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572494" y="6682264"/>
            <a:ext cx="6263402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771686" y="6808946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.ffill()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863018" y="6808946"/>
            <a:ext cx="168318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Preenche com valor anterior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950541" y="6808946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df.ffill()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572494" y="7570708"/>
            <a:ext cx="6263402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771686" y="7697391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.bfill()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863018" y="7697391"/>
            <a:ext cx="168318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Preenche com próximo valor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950541" y="7697391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df.bfill()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2942"/>
            <a:ext cx="11324392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Demonstração - Tratamento de Valores Ausentes</a:t>
            </a:r>
            <a:endParaRPr lang="en-US" sz="3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649135"/>
            <a:ext cx="13042821" cy="584359"/>
          </a:xfrm>
          <a:prstGeom prst="roundRect">
            <a:avLst>
              <a:gd name="adj" fmla="val 13552"/>
            </a:avLst>
          </a:prstGeom>
          <a:solidFill>
            <a:srgbClr val="343232"/>
          </a:solidFill>
          <a:ln/>
        </p:spPr>
      </p:sp>
      <p:sp>
        <p:nvSpPr>
          <p:cNvPr id="4" name="Shape 2"/>
          <p:cNvSpPr/>
          <p:nvPr/>
        </p:nvSpPr>
        <p:spPr>
          <a:xfrm>
            <a:off x="784384" y="1649135"/>
            <a:ext cx="13061633" cy="9071874"/>
          </a:xfrm>
          <a:prstGeom prst="roundRect">
            <a:avLst>
              <a:gd name="adj" fmla="val 4840"/>
            </a:avLst>
          </a:prstGeom>
          <a:solidFill>
            <a:srgbClr val="343232"/>
          </a:solidFill>
          <a:ln/>
        </p:spPr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3EF7CA4-C514-75C6-5B99-631463D46E87}"/>
              </a:ext>
            </a:extLst>
          </p:cNvPr>
          <p:cNvSpPr txBox="1"/>
          <p:nvPr/>
        </p:nvSpPr>
        <p:spPr>
          <a:xfrm>
            <a:off x="784383" y="1933927"/>
            <a:ext cx="13061634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Demonstração - Tratamento de Valores Ausentes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🔍 VERIFICANDO VALORES AUSENTES: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Valores nulos por coluna: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📊 DETALHES DOS VALORES AUSENTES: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"Total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de valores nulos no 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dataset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"Percentual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de dados completos: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notnull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:.1f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%"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Exemplo 1: Removendo linhas com valores ausentes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🗑️ REMOVENDO LINHAS COM VALORES AUSENTES: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df_sem_nulos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dropna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"Linhas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originais: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"Linhas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após remoção: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df_sem_nulos.shape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"Linhas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removidas: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df_sem_nulos.shape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Exemplo 2: Preenchendo valores ausentes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🔧 PREENCHENDO VALORES AUSENTES: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df_preenchido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Preenchendo idade ausente com a média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df_preenchido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df_preenchido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df_preenchido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Valores nulos após preenchimento: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df_preenchido.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2030"/>
            <a:ext cx="8208883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Limpeza de Dados - Duplicatas </a:t>
            </a:r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🔄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33362"/>
            <a:ext cx="544961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Detectando e Removendo Duplicatas: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728674"/>
            <a:ext cx="6279356" cy="2363033"/>
          </a:xfrm>
          <a:prstGeom prst="roundRect">
            <a:avLst>
              <a:gd name="adj" fmla="val 352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736294"/>
            <a:ext cx="6263402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0601" y="2862977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Método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91934" y="2862977"/>
            <a:ext cx="168318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Descrição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79457" y="2862977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Exemplo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1410" y="3307199"/>
            <a:ext cx="6263402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0601" y="3433882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.duplicated()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91934" y="3433882"/>
            <a:ext cx="168318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Detecta linhas duplicadas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79457" y="3433882"/>
            <a:ext cx="168699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df.duplicated()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1410" y="4195643"/>
            <a:ext cx="6263402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0601" y="4322326"/>
            <a:ext cx="168699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.drop_duplicates()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91934" y="4322326"/>
            <a:ext cx="168318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Remove linhas duplicadas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79457" y="4322326"/>
            <a:ext cx="168699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df.drop_duplicates()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3790" y="5314950"/>
            <a:ext cx="36125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Parâmetros Importantes: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588537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subset: especifica colunas para verificar duplicatas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3790" y="627233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keep: qual duplicata manter ('first', 'last', False)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874" y="2158246"/>
            <a:ext cx="6279356" cy="62793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547330"/>
            <a:ext cx="9701689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Demonstração - Tratamento de Duplicatas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791647" y="1510903"/>
            <a:ext cx="13047107" cy="2387203"/>
          </a:xfrm>
          <a:prstGeom prst="roundRect">
            <a:avLst>
              <a:gd name="adj" fmla="val 3308"/>
            </a:avLst>
          </a:prstGeom>
          <a:solidFill>
            <a:srgbClr val="343232"/>
          </a:solidFill>
          <a:ln/>
        </p:spPr>
      </p:sp>
      <p:sp>
        <p:nvSpPr>
          <p:cNvPr id="4" name="Shape 2"/>
          <p:cNvSpPr/>
          <p:nvPr/>
        </p:nvSpPr>
        <p:spPr>
          <a:xfrm>
            <a:off x="782360" y="1510903"/>
            <a:ext cx="13065681" cy="8348714"/>
          </a:xfrm>
          <a:prstGeom prst="roundRect">
            <a:avLst>
              <a:gd name="adj" fmla="val 1181"/>
            </a:avLst>
          </a:prstGeom>
          <a:solidFill>
            <a:srgbClr val="343232"/>
          </a:solidFill>
          <a:ln/>
        </p:spPr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1E092E8-07A9-A07C-2B1D-7C9CBBB4EDE2}"/>
              </a:ext>
            </a:extLst>
          </p:cNvPr>
          <p:cNvSpPr txBox="1"/>
          <p:nvPr/>
        </p:nvSpPr>
        <p:spPr>
          <a:xfrm>
            <a:off x="901147" y="1510903"/>
            <a:ext cx="12937606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Criando algumas linhas duplicadas para demonstração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df_com_duplicatas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Adicionando uma linha duplicada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linha_duplicada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df_com_duplicatas.iloc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df_com_duplicatas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pd.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df_com_duplicatas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linha_duplicada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pt-BR" b="0" i="1" dirty="0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ignore_index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 err="1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🔍 VERIFICANDO DUPLICATAS: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"Linhas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no 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dataset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df_com_duplicatas.shape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"Linhas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duplicadas: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df_com_duplicatas.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duplicated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🔍 QUAIS LINHAS SÃO DUPLICADAS: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df_com_duplicatas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df_com_duplicatas.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duplicated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()])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🗑️ REMOVENDO DUPLICATAS: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df_sem_duplicatas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df_com_duplicatas.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drop_duplicates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"Linhas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antes: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df_com_duplicatas.shape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"Linhas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depois: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df_sem_duplicatas.shape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"Duplicatas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removidas: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df_com_duplicatas.shape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df_sem_duplicatas.shape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Verificando duplicatas por coluna específica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🔍 DUPLICATAS POR SEXO: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duplicatas_sexo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df_com_duplicatas.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duplicated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i="1" dirty="0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subset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Sex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"Linhas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com sexo duplicado: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duplicatas_sexo.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26938"/>
            <a:ext cx="6819543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Transformação de Dados </a:t>
            </a:r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🔄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059912"/>
            <a:ext cx="440924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Operações de Transformação: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5027295"/>
            <a:ext cx="4215289" cy="2818567"/>
          </a:xfrm>
          <a:prstGeom prst="roundRect">
            <a:avLst>
              <a:gd name="adj" fmla="val 3893"/>
            </a:avLst>
          </a:prstGeom>
          <a:solidFill>
            <a:srgbClr val="272525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5004435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6" name="Shape 4"/>
          <p:cNvSpPr/>
          <p:nvPr/>
        </p:nvSpPr>
        <p:spPr>
          <a:xfrm>
            <a:off x="2603778" y="472963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B0AFF"/>
          </a:solidFill>
          <a:ln/>
        </p:spPr>
      </p:sp>
      <p:sp>
        <p:nvSpPr>
          <p:cNvPr id="7" name="Text 5"/>
          <p:cNvSpPr/>
          <p:nvPr/>
        </p:nvSpPr>
        <p:spPr>
          <a:xfrm>
            <a:off x="2782372" y="487846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5008" y="55234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Renomear Colunas: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15008" y="6056828"/>
            <a:ext cx="3772853" cy="1567815"/>
          </a:xfrm>
          <a:prstGeom prst="roundRect">
            <a:avLst>
              <a:gd name="adj" fmla="val 5317"/>
            </a:avLst>
          </a:prstGeom>
          <a:solidFill>
            <a:srgbClr val="343232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126" y="6056828"/>
            <a:ext cx="3792617" cy="1567815"/>
          </a:xfrm>
          <a:prstGeom prst="roundRect">
            <a:avLst>
              <a:gd name="adj" fmla="val 1899"/>
            </a:avLst>
          </a:prstGeom>
          <a:solidFill>
            <a:srgbClr val="343232"/>
          </a:solidFill>
          <a:ln/>
        </p:spPr>
      </p:sp>
      <p:sp>
        <p:nvSpPr>
          <p:cNvPr id="11" name="Text 9"/>
          <p:cNvSpPr/>
          <p:nvPr/>
        </p:nvSpPr>
        <p:spPr>
          <a:xfrm>
            <a:off x="1203484" y="6205657"/>
            <a:ext cx="359425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df.rename(columns={'old_name': '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new_name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’})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df.columns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= ['nova_col1', 'nova_col2', ...]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07437" y="5027295"/>
            <a:ext cx="4215408" cy="2818567"/>
          </a:xfrm>
          <a:prstGeom prst="roundRect">
            <a:avLst>
              <a:gd name="adj" fmla="val 3893"/>
            </a:avLst>
          </a:prstGeom>
          <a:solidFill>
            <a:srgbClr val="272525"/>
          </a:solidFill>
          <a:ln/>
        </p:spPr>
      </p:sp>
      <p:sp>
        <p:nvSpPr>
          <p:cNvPr id="13" name="Shape 11"/>
          <p:cNvSpPr/>
          <p:nvPr/>
        </p:nvSpPr>
        <p:spPr>
          <a:xfrm>
            <a:off x="5207437" y="5004435"/>
            <a:ext cx="4215408" cy="914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017425" y="472963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B0A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2522" y="487846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28655" y="5523428"/>
            <a:ext cx="284833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Alterar Tipos de Dados: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28655" y="6056828"/>
            <a:ext cx="3772972" cy="1250275"/>
          </a:xfrm>
          <a:prstGeom prst="roundRect">
            <a:avLst>
              <a:gd name="adj" fmla="val 6667"/>
            </a:avLst>
          </a:prstGeom>
          <a:solidFill>
            <a:srgbClr val="34323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18773" y="6056828"/>
            <a:ext cx="3792736" cy="1250275"/>
          </a:xfrm>
          <a:prstGeom prst="roundRect">
            <a:avLst>
              <a:gd name="adj" fmla="val 2381"/>
            </a:avLst>
          </a:prstGeom>
          <a:solidFill>
            <a:srgbClr val="343232"/>
          </a:solidFill>
          <a:ln/>
        </p:spPr>
      </p:sp>
      <p:sp>
        <p:nvSpPr>
          <p:cNvPr id="19" name="Text 17"/>
          <p:cNvSpPr/>
          <p:nvPr/>
        </p:nvSpPr>
        <p:spPr>
          <a:xfrm>
            <a:off x="5617131" y="6205657"/>
            <a:ext cx="360426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df['coluna'].astype('int64’)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['coluna'].astype('float’)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pd.to_datetime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(df['coluna'])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621203" y="5027295"/>
            <a:ext cx="4215289" cy="2818567"/>
          </a:xfrm>
          <a:prstGeom prst="roundRect">
            <a:avLst>
              <a:gd name="adj" fmla="val 3893"/>
            </a:avLst>
          </a:prstGeom>
          <a:solidFill>
            <a:srgbClr val="272525"/>
          </a:solidFill>
          <a:ln/>
        </p:spPr>
      </p:sp>
      <p:sp>
        <p:nvSpPr>
          <p:cNvPr id="21" name="Shape 19"/>
          <p:cNvSpPr/>
          <p:nvPr/>
        </p:nvSpPr>
        <p:spPr>
          <a:xfrm>
            <a:off x="9621203" y="5004435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1191" y="472963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B0A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636288" y="487846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42421" y="55234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Filtrar Dados: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842421" y="6056828"/>
            <a:ext cx="3772853" cy="1250275"/>
          </a:xfrm>
          <a:prstGeom prst="roundRect">
            <a:avLst>
              <a:gd name="adj" fmla="val 6667"/>
            </a:avLst>
          </a:prstGeom>
          <a:solidFill>
            <a:srgbClr val="343232"/>
          </a:solidFill>
          <a:ln/>
        </p:spPr>
      </p:sp>
      <p:sp>
        <p:nvSpPr>
          <p:cNvPr id="26" name="Shape 24"/>
          <p:cNvSpPr/>
          <p:nvPr/>
        </p:nvSpPr>
        <p:spPr>
          <a:xfrm>
            <a:off x="9832538" y="6056828"/>
            <a:ext cx="4202312" cy="1567815"/>
          </a:xfrm>
          <a:prstGeom prst="roundRect">
            <a:avLst>
              <a:gd name="adj" fmla="val 2381"/>
            </a:avLst>
          </a:prstGeom>
          <a:solidFill>
            <a:srgbClr val="343232"/>
          </a:solidFill>
          <a:ln/>
        </p:spPr>
      </p:sp>
      <p:sp>
        <p:nvSpPr>
          <p:cNvPr id="27" name="Text 25"/>
          <p:cNvSpPr/>
          <p:nvPr/>
        </p:nvSpPr>
        <p:spPr>
          <a:xfrm>
            <a:off x="10030896" y="6205657"/>
            <a:ext cx="40039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df[df['coluna'] &gt; 10] 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Filtro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simples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df.loc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[df['idade'] &gt; 18] 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Usando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loc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df.iloc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[0:5] # Usando iloc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8287"/>
            <a:ext cx="1211972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Demonstração - Transformações de Dados Parte 1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555200"/>
            <a:ext cx="13042821" cy="1567815"/>
          </a:xfrm>
          <a:prstGeom prst="roundRect">
            <a:avLst>
              <a:gd name="adj" fmla="val 5317"/>
            </a:avLst>
          </a:prstGeom>
          <a:solidFill>
            <a:srgbClr val="34323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2555200"/>
            <a:ext cx="13062585" cy="7198400"/>
          </a:xfrm>
          <a:prstGeom prst="roundRect">
            <a:avLst>
              <a:gd name="adj" fmla="val 1899"/>
            </a:avLst>
          </a:prstGeom>
          <a:solidFill>
            <a:srgbClr val="343232"/>
          </a:solidFill>
          <a:ln/>
        </p:spPr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5F9B53-FD09-CAEA-0C96-D048FBD68863}"/>
              </a:ext>
            </a:extLst>
          </p:cNvPr>
          <p:cNvSpPr txBox="1"/>
          <p:nvPr/>
        </p:nvSpPr>
        <p:spPr>
          <a:xfrm>
            <a:off x="1020418" y="2563462"/>
            <a:ext cx="10257182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Trabalhando com uma cópia dos dados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🏷️ RENOMEANDO COLUNAS: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Colunas originais: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8BE9FD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df_transform.columns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Renomeando colunas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rename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i="1" dirty="0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PassengerId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ID_Passageiro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Survived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Sobreviveu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Pclass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Classe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Sex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Sexo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Idade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Fare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Tarifa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Colunas renomeadas: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8BE9FD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df_transform.columns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🔄 ALTERANDO TIPOS DE DADOS: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Tipos originais: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df_transform.dtypes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9869"/>
            <a:ext cx="1221807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Demonstração - Transformações de Dados Parte 2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813554" y="1876783"/>
            <a:ext cx="13042821" cy="6154034"/>
          </a:xfrm>
          <a:prstGeom prst="roundRect">
            <a:avLst>
              <a:gd name="adj" fmla="val 1012"/>
            </a:avLst>
          </a:prstGeom>
          <a:solidFill>
            <a:srgbClr val="34323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1876782"/>
            <a:ext cx="13062585" cy="6313061"/>
          </a:xfrm>
          <a:prstGeom prst="roundRect">
            <a:avLst>
              <a:gd name="adj" fmla="val 361"/>
            </a:avLst>
          </a:prstGeom>
          <a:solidFill>
            <a:srgbClr val="343232"/>
          </a:solidFill>
          <a:ln/>
        </p:spPr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C3DC85A-D234-61DA-E019-F99C7BA638AF}"/>
              </a:ext>
            </a:extLst>
          </p:cNvPr>
          <p:cNvSpPr txBox="1"/>
          <p:nvPr/>
        </p:nvSpPr>
        <p:spPr>
          <a:xfrm>
            <a:off x="967409" y="2168366"/>
            <a:ext cx="1239078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Convertendo tipos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Sobreviveu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Sobreviveu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Classe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Classe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category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Tipos após conversão: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Sobreviveu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Classe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]].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dtypes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🔍 FILTRANDO DADOS: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Filtro: passageiros que sobreviveram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sobreviventes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Sobreviveu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"Total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de passageiros: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"Sobreviventes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(sobreviventes)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Filtro: passageiros da primeira classe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primeira_classe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Classe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"Passageiros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da 1ª classe: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 err="1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primeira_classe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primeira_classe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Classe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Sobreviveu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]].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4833"/>
            <a:ext cx="8552855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Aplicando Funções com .apply() </a:t>
            </a:r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🔧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5616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 método .apply():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226594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Permite aplicar uma função a cada elemento, linha ou coluna de um DataFrame/Series.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0600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Sintaxe: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4655344"/>
            <a:ext cx="6279356" cy="2837974"/>
          </a:xfrm>
          <a:prstGeom prst="roundRect">
            <a:avLst>
              <a:gd name="adj" fmla="val 2937"/>
            </a:avLst>
          </a:prstGeom>
          <a:solidFill>
            <a:srgbClr val="343232"/>
          </a:solidFill>
          <a:ln/>
        </p:spPr>
      </p:sp>
      <p:sp>
        <p:nvSpPr>
          <p:cNvPr id="7" name="Shape 5"/>
          <p:cNvSpPr/>
          <p:nvPr/>
        </p:nvSpPr>
        <p:spPr>
          <a:xfrm>
            <a:off x="783908" y="4655344"/>
            <a:ext cx="6299121" cy="2837974"/>
          </a:xfrm>
          <a:prstGeom prst="roundRect">
            <a:avLst>
              <a:gd name="adj" fmla="val 1049"/>
            </a:avLst>
          </a:prstGeom>
          <a:solidFill>
            <a:srgbClr val="343232"/>
          </a:solidFill>
          <a:ln/>
        </p:spPr>
      </p:sp>
      <p:sp>
        <p:nvSpPr>
          <p:cNvPr id="8" name="Text 6"/>
          <p:cNvSpPr/>
          <p:nvPr/>
        </p:nvSpPr>
        <p:spPr>
          <a:xfrm>
            <a:off x="982266" y="4804172"/>
            <a:ext cx="646545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Em Series (elemento por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elemento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)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series.apply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função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)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Em DataFrame (coluna por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coluna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)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df.apply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função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)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Em DataFrame (linha por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linha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)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df.apply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(função, axis=1)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771656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Tipos de Funções: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828698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Funções built-in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len, str.upper, abs, etc.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867394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Funções lambda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lambda x: x * 2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906089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Funções personalizadas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definidas pelo usuário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874" y="2681049"/>
            <a:ext cx="6279356" cy="62793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2942"/>
            <a:ext cx="9878139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 err="1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Demonstração</a:t>
            </a:r>
            <a:r>
              <a:rPr lang="en-US" sz="37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- </a:t>
            </a:r>
            <a:r>
              <a:rPr lang="en-US" sz="3700" b="1" dirty="0" err="1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Aplicando</a:t>
            </a:r>
            <a:r>
              <a:rPr lang="en-US" sz="37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3700" b="1" dirty="0" err="1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Funções</a:t>
            </a:r>
            <a:r>
              <a:rPr lang="en-US" sz="37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3700" b="1" dirty="0" err="1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Parte</a:t>
            </a:r>
            <a:r>
              <a:rPr lang="en-US" sz="37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1</a:t>
            </a:r>
            <a:endParaRPr lang="en-US" sz="3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649135"/>
            <a:ext cx="13042821" cy="886063"/>
          </a:xfrm>
          <a:prstGeom prst="roundRect">
            <a:avLst>
              <a:gd name="adj" fmla="val 8937"/>
            </a:avLst>
          </a:prstGeom>
          <a:solidFill>
            <a:srgbClr val="343232"/>
          </a:solidFill>
          <a:ln/>
        </p:spPr>
      </p:sp>
      <p:sp>
        <p:nvSpPr>
          <p:cNvPr id="4" name="Shape 2"/>
          <p:cNvSpPr/>
          <p:nvPr/>
        </p:nvSpPr>
        <p:spPr>
          <a:xfrm>
            <a:off x="784384" y="1649136"/>
            <a:ext cx="13061633" cy="7543872"/>
          </a:xfrm>
          <a:prstGeom prst="roundRect">
            <a:avLst>
              <a:gd name="adj" fmla="val 3192"/>
            </a:avLst>
          </a:prstGeom>
          <a:solidFill>
            <a:srgbClr val="343232"/>
          </a:solidFill>
          <a:ln/>
        </p:spPr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105EDAE-4ACC-42A1-7E54-C0D5DAE60D95}"/>
              </a:ext>
            </a:extLst>
          </p:cNvPr>
          <p:cNvSpPr txBox="1"/>
          <p:nvPr/>
        </p:nvSpPr>
        <p:spPr>
          <a:xfrm>
            <a:off x="993913" y="1779793"/>
            <a:ext cx="12178748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Usando os dados transformados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🔧 APLICANDO FUNÇÕES COM .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Exemplo 1: Aplicar função em uma coluna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1️⃣ Tamanho dos nomes: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Tamanho_Nome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Tamanho_Nome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]].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Exemplo 2: Função lambda para categorizar idade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2️⃣ Categorizando idades: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categorizar_idade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i="1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idade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pd.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isna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i="1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idade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Desconhecido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i="1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idade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Criança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i="1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idade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Adulto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Idoso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Categoria_Idade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Idade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categorizar_idade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Idade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Categoria_Idade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]].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8267"/>
            <a:ext cx="1049535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Demonstração - Aplicando Funções Parte 2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345180"/>
            <a:ext cx="13042821" cy="932736"/>
          </a:xfrm>
          <a:prstGeom prst="roundRect">
            <a:avLst>
              <a:gd name="adj" fmla="val 8937"/>
            </a:avLst>
          </a:prstGeom>
          <a:solidFill>
            <a:srgbClr val="34323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3345180"/>
            <a:ext cx="13062585" cy="4778404"/>
          </a:xfrm>
          <a:prstGeom prst="roundRect">
            <a:avLst>
              <a:gd name="adj" fmla="val 3192"/>
            </a:avLst>
          </a:prstGeom>
          <a:solidFill>
            <a:srgbClr val="343232"/>
          </a:solidFill>
          <a:ln/>
        </p:spPr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BC686B-758C-5752-1BEF-31EC7A4A7F2F}"/>
              </a:ext>
            </a:extLst>
          </p:cNvPr>
          <p:cNvSpPr txBox="1"/>
          <p:nvPr/>
        </p:nvSpPr>
        <p:spPr>
          <a:xfrm>
            <a:off x="1007165" y="3472604"/>
            <a:ext cx="11887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Exemplo 3: Função lambda simples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3️⃣ Convertendo sexo para maiúsculo: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Sexo_Upper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Sexo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i="1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i="1" dirty="0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.upper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Sexo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Sexo_Upper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]].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Exemplo 4: </a:t>
            </a:r>
            <a:r>
              <a:rPr lang="pt-BR" b="0" dirty="0" err="1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 em múltiplas colunas (</a:t>
            </a:r>
            <a:r>
              <a:rPr lang="pt-BR" b="0" dirty="0" err="1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=1)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4️⃣ Criando descrição personalizada: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criar_descricao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i="1" dirty="0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sobreviveu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sobreviveu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i="1" dirty="0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Sobreviveu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não sobreviveu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"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i="1" dirty="0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i="1" dirty="0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Sexo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i="1" dirty="0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Categoria_Idade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sobreviveu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"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Descricao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criar_descricao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i="1" dirty="0" err="1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df_transform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Descricao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pt-BR" b="0" dirty="0" err="1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051" y="543878"/>
            <a:ext cx="6382226" cy="501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🎯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Exercício Prático - Dataset Iris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1051" y="1283137"/>
            <a:ext cx="487025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Vamos praticar com o famoso dataset Iris!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1051" y="1817013"/>
            <a:ext cx="1977866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Tarefas: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51" y="2301478"/>
            <a:ext cx="791051" cy="9492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0218" y="2459593"/>
            <a:ext cx="2147411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Carregar o dataset Iris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51" y="3250763"/>
            <a:ext cx="791051" cy="9492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40218" y="3408878"/>
            <a:ext cx="4173498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Inspecionar os dados (head, info, describe)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51" y="4200049"/>
            <a:ext cx="791051" cy="9492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40218" y="4358164"/>
            <a:ext cx="3272314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Verificar e tratar valores ausentes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051" y="5149334"/>
            <a:ext cx="791051" cy="9492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40218" y="5307449"/>
            <a:ext cx="1977866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Verificar duplicatas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051" y="6098619"/>
            <a:ext cx="791051" cy="9492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40218" y="6256734"/>
            <a:ext cx="3323392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Renomear colunas para português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051" y="7047905"/>
            <a:ext cx="791051" cy="94928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740218" y="7206020"/>
            <a:ext cx="396406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Criar novas colunas com transformações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051" y="7997190"/>
            <a:ext cx="791051" cy="94928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740218" y="8155305"/>
            <a:ext cx="2392323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Filtrar dados por espécie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051" y="8946475"/>
            <a:ext cx="791051" cy="94928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740218" y="9104590"/>
            <a:ext cx="3054668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Aplicar funções personalizadas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002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Exercício Prático 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146941"/>
            <a:ext cx="13042821" cy="5695831"/>
          </a:xfrm>
          <a:prstGeom prst="roundRect">
            <a:avLst>
              <a:gd name="adj" fmla="val 1464"/>
            </a:avLst>
          </a:prstGeom>
          <a:solidFill>
            <a:srgbClr val="34323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3146941"/>
            <a:ext cx="13062585" cy="6407876"/>
          </a:xfrm>
          <a:prstGeom prst="roundRect">
            <a:avLst>
              <a:gd name="adj" fmla="val 523"/>
            </a:avLst>
          </a:prstGeom>
          <a:solidFill>
            <a:srgbClr val="343232"/>
          </a:solidFill>
          <a:ln/>
        </p:spPr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629706F-A2CD-F690-5EF2-3ECD5E156F60}"/>
              </a:ext>
            </a:extLst>
          </p:cNvPr>
          <p:cNvSpPr txBox="1"/>
          <p:nvPr/>
        </p:nvSpPr>
        <p:spPr>
          <a:xfrm>
            <a:off x="1020418" y="3351276"/>
            <a:ext cx="1281619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Criando </a:t>
            </a:r>
            <a:r>
              <a:rPr lang="pt-BR" b="0" dirty="0" err="1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dataset</a:t>
            </a: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 Iris manualmente (caso não tenha acesso ao </a:t>
            </a:r>
            <a:r>
              <a:rPr lang="pt-BR" b="0" dirty="0" err="1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)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random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Dados simplificados do Iris para demonstração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iris_data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sepal_length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4.7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         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7.0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5.7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         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5.8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7.1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7.6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7.3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6.7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7.2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sepal_width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2.8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2.8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2.7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2.7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petal_length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1.7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         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4.7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4.7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3.9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         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5.8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4.5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5.8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6.1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petal_width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1.6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1.3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1.4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1.9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1.8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2.2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2.1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1.7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1.8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1.8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species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setosa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versicolor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virginica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D93F9"/>
                </a:solidFill>
                <a:effectLst/>
                <a:latin typeface="Consolas" panose="020B0609020204030204" pitchFamily="49" charset="0"/>
              </a:rPr>
              <a:t>10</a:t>
            </a:r>
            <a:endParaRPr lang="pt-BR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df_iris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pd.</a:t>
            </a:r>
            <a:r>
              <a:rPr lang="pt-BR" b="0" dirty="0" err="1">
                <a:solidFill>
                  <a:srgbClr val="8BE9FD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iris_data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1922"/>
            <a:ext cx="10976610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🎯</a:t>
            </a: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Resumo da Aula - O que Aprendemos Hoje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23254"/>
            <a:ext cx="4146590" cy="379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✅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Conceitos Fundamentais: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06112" y="2890599"/>
            <a:ext cx="563451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🐼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Pandas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biblioteca essencial para análise de dados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6112" y="3733919"/>
            <a:ext cx="563451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📈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Series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estrutura unidimensional com índices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06112" y="4577239"/>
            <a:ext cx="563451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📊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DataFrame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estrutura bidimensional (tabular)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5182553"/>
            <a:ext cx="3756541" cy="379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✅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Operações de Entrada: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06112" y="5849898"/>
            <a:ext cx="563451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📁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Leitura de arquivos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read_csv(), read_excel()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06112" y="6693217"/>
            <a:ext cx="563451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🔍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Inspeção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.head(), .info(), .describe(), .shape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64874" y="2223254"/>
            <a:ext cx="3192780" cy="379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✅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Limpeza de Dados: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77197" y="2890599"/>
            <a:ext cx="563451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🧹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Valores ausentes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.isnull(), .dropna(), .fillna()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77197" y="3733919"/>
            <a:ext cx="563451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🔄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Duplicatas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.duplicated(), .drop_duplicates()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64874" y="4339233"/>
            <a:ext cx="2977039" cy="379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✅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Transformação: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77197" y="5006578"/>
            <a:ext cx="563451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🏷️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Renomear colunas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.rename()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77197" y="5849898"/>
            <a:ext cx="563451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🔄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Tipos de dados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.astype()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77197" y="6693217"/>
            <a:ext cx="563451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🔍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Filtros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df[condição], .loc[], .iloc[]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77197" y="7536537"/>
            <a:ext cx="563451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🔧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Funções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.apply()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64874" y="8141851"/>
            <a:ext cx="3012043" cy="379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🚀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Próximos Passos: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564874" y="871989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Análise exploratória avançada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564874" y="910685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Visualização de dados com Matplotlib/Seaborn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564874" y="949380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Operações de agrupamento e agregação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3693</Words>
  <Application>Microsoft Office PowerPoint</Application>
  <PresentationFormat>Personalizar</PresentationFormat>
  <Paragraphs>479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Consolas</vt:lpstr>
      <vt:lpstr>Inter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viniciusai gamePlay</dc:creator>
  <cp:lastModifiedBy>viniciusai gamePlay</cp:lastModifiedBy>
  <cp:revision>2</cp:revision>
  <dcterms:created xsi:type="dcterms:W3CDTF">2025-07-26T22:43:50Z</dcterms:created>
  <dcterms:modified xsi:type="dcterms:W3CDTF">2025-07-26T23:25:19Z</dcterms:modified>
</cp:coreProperties>
</file>