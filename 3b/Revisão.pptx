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1" r:id="rId5"/>
    <p:sldId id="265" r:id="rId6"/>
    <p:sldId id="266" r:id="rId7"/>
    <p:sldId id="267" r:id="rId8"/>
    <p:sldId id="268" r:id="rId9"/>
    <p:sldId id="272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4" r:id="rId19"/>
    <p:sldId id="285" r:id="rId20"/>
    <p:sldId id="286" r:id="rId21"/>
    <p:sldId id="290" r:id="rId22"/>
  </p:sldIdLst>
  <p:sldSz cx="14630400" cy="10972800"/>
  <p:notesSz cx="10972800" cy="146304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99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13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36989" y="4732563"/>
            <a:ext cx="7556421" cy="1058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Revisão</a:t>
            </a:r>
            <a:endParaRPr lang="en-US" sz="6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740509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Docente: Vinícius Mota Zulianelli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10815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1081504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82479" y="537924"/>
            <a:ext cx="5951458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Virtualização Tradicional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479" y="1442680"/>
            <a:ext cx="3552706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Máquinas Virtuais (VMs)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82479" y="2616279"/>
            <a:ext cx="6294120" cy="1020366"/>
          </a:xfrm>
          <a:prstGeom prst="roundRect">
            <a:avLst>
              <a:gd name="adj" fmla="val 10754"/>
            </a:avLst>
          </a:prstGeom>
          <a:solidFill>
            <a:srgbClr val="000000"/>
          </a:solidFill>
          <a:ln/>
        </p:spPr>
      </p:sp>
      <p:sp>
        <p:nvSpPr>
          <p:cNvPr id="7" name="Shape 4"/>
          <p:cNvSpPr/>
          <p:nvPr/>
        </p:nvSpPr>
        <p:spPr>
          <a:xfrm>
            <a:off x="782479" y="2593419"/>
            <a:ext cx="6294120" cy="91440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8" name="Shape 5"/>
          <p:cNvSpPr/>
          <p:nvPr/>
        </p:nvSpPr>
        <p:spPr>
          <a:xfrm>
            <a:off x="3636109" y="2322909"/>
            <a:ext cx="586859" cy="586859"/>
          </a:xfrm>
          <a:prstGeom prst="roundRect">
            <a:avLst>
              <a:gd name="adj" fmla="val 155813"/>
            </a:avLst>
          </a:prstGeom>
          <a:solidFill>
            <a:srgbClr val="2B0AFF"/>
          </a:solidFill>
          <a:ln/>
        </p:spPr>
      </p:sp>
      <p:sp>
        <p:nvSpPr>
          <p:cNvPr id="9" name="Text 6"/>
          <p:cNvSpPr/>
          <p:nvPr/>
        </p:nvSpPr>
        <p:spPr>
          <a:xfrm>
            <a:off x="3812203" y="2469594"/>
            <a:ext cx="2346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00958" y="3105269"/>
            <a:ext cx="585716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Replicam totalmente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uma máquina física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82479" y="4125635"/>
            <a:ext cx="6294120" cy="1020366"/>
          </a:xfrm>
          <a:prstGeom prst="roundRect">
            <a:avLst>
              <a:gd name="adj" fmla="val 10754"/>
            </a:avLst>
          </a:prstGeom>
          <a:solidFill>
            <a:srgbClr val="000000"/>
          </a:solidFill>
          <a:ln/>
        </p:spPr>
      </p:sp>
      <p:sp>
        <p:nvSpPr>
          <p:cNvPr id="12" name="Shape 9"/>
          <p:cNvSpPr/>
          <p:nvPr/>
        </p:nvSpPr>
        <p:spPr>
          <a:xfrm>
            <a:off x="782479" y="4102775"/>
            <a:ext cx="6294120" cy="91440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636109" y="3832265"/>
            <a:ext cx="586859" cy="586859"/>
          </a:xfrm>
          <a:prstGeom prst="roundRect">
            <a:avLst>
              <a:gd name="adj" fmla="val 155813"/>
            </a:avLst>
          </a:prstGeom>
          <a:solidFill>
            <a:srgbClr val="2B0AFF"/>
          </a:solidFill>
          <a:ln/>
        </p:spPr>
      </p:sp>
      <p:sp>
        <p:nvSpPr>
          <p:cNvPr id="14" name="Text 11"/>
          <p:cNvSpPr/>
          <p:nvPr/>
        </p:nvSpPr>
        <p:spPr>
          <a:xfrm>
            <a:off x="3812203" y="3978950"/>
            <a:ext cx="2346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00958" y="4614624"/>
            <a:ext cx="585716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VM possui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sistema operacional próprio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82479" y="5634990"/>
            <a:ext cx="6294120" cy="1020366"/>
          </a:xfrm>
          <a:prstGeom prst="roundRect">
            <a:avLst>
              <a:gd name="adj" fmla="val 10754"/>
            </a:avLst>
          </a:prstGeom>
          <a:solidFill>
            <a:srgbClr val="000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782479" y="5612130"/>
            <a:ext cx="6294120" cy="91440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8" name="Shape 15"/>
          <p:cNvSpPr/>
          <p:nvPr/>
        </p:nvSpPr>
        <p:spPr>
          <a:xfrm>
            <a:off x="3636109" y="5341620"/>
            <a:ext cx="586859" cy="586859"/>
          </a:xfrm>
          <a:prstGeom prst="roundRect">
            <a:avLst>
              <a:gd name="adj" fmla="val 155813"/>
            </a:avLst>
          </a:prstGeom>
          <a:solidFill>
            <a:srgbClr val="2B0AFF"/>
          </a:solidFill>
          <a:ln/>
        </p:spPr>
      </p:sp>
      <p:sp>
        <p:nvSpPr>
          <p:cNvPr id="19" name="Text 16"/>
          <p:cNvSpPr/>
          <p:nvPr/>
        </p:nvSpPr>
        <p:spPr>
          <a:xfrm>
            <a:off x="3812203" y="5488305"/>
            <a:ext cx="2346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00958" y="6123980"/>
            <a:ext cx="585716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Utilizam um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hipervisor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gerenciar recursos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82479" y="7144345"/>
            <a:ext cx="6294120" cy="1020366"/>
          </a:xfrm>
          <a:prstGeom prst="roundRect">
            <a:avLst>
              <a:gd name="adj" fmla="val 10754"/>
            </a:avLst>
          </a:prstGeom>
          <a:solidFill>
            <a:srgbClr val="000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782479" y="7121485"/>
            <a:ext cx="6294120" cy="91440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636109" y="6850975"/>
            <a:ext cx="586859" cy="586859"/>
          </a:xfrm>
          <a:prstGeom prst="roundRect">
            <a:avLst>
              <a:gd name="adj" fmla="val 155813"/>
            </a:avLst>
          </a:prstGeom>
          <a:solidFill>
            <a:srgbClr val="2B0AFF"/>
          </a:solidFill>
          <a:ln/>
        </p:spPr>
      </p:sp>
      <p:sp>
        <p:nvSpPr>
          <p:cNvPr id="24" name="Text 21"/>
          <p:cNvSpPr/>
          <p:nvPr/>
        </p:nvSpPr>
        <p:spPr>
          <a:xfrm>
            <a:off x="3812203" y="6997660"/>
            <a:ext cx="2346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4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00958" y="7633335"/>
            <a:ext cx="585716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VM carrega um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kernel e SO completo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782479" y="8653701"/>
            <a:ext cx="6294120" cy="1020366"/>
          </a:xfrm>
          <a:prstGeom prst="roundRect">
            <a:avLst>
              <a:gd name="adj" fmla="val 10754"/>
            </a:avLst>
          </a:prstGeom>
          <a:solidFill>
            <a:srgbClr val="000000"/>
          </a:solidFill>
          <a:ln/>
        </p:spPr>
      </p:sp>
      <p:sp>
        <p:nvSpPr>
          <p:cNvPr id="27" name="Shape 24"/>
          <p:cNvSpPr/>
          <p:nvPr/>
        </p:nvSpPr>
        <p:spPr>
          <a:xfrm>
            <a:off x="782479" y="8630841"/>
            <a:ext cx="6294120" cy="91440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28" name="Shape 25"/>
          <p:cNvSpPr/>
          <p:nvPr/>
        </p:nvSpPr>
        <p:spPr>
          <a:xfrm>
            <a:off x="3636109" y="8360331"/>
            <a:ext cx="586859" cy="586859"/>
          </a:xfrm>
          <a:prstGeom prst="roundRect">
            <a:avLst>
              <a:gd name="adj" fmla="val 155813"/>
            </a:avLst>
          </a:prstGeom>
          <a:solidFill>
            <a:srgbClr val="2B0AFF"/>
          </a:solidFill>
          <a:ln/>
        </p:spPr>
      </p:sp>
      <p:sp>
        <p:nvSpPr>
          <p:cNvPr id="29" name="Text 26"/>
          <p:cNvSpPr/>
          <p:nvPr/>
        </p:nvSpPr>
        <p:spPr>
          <a:xfrm>
            <a:off x="3812203" y="8507016"/>
            <a:ext cx="234672" cy="293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00958" y="9142690"/>
            <a:ext cx="585716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Consumo em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gigabytes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espaço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7561421" y="2507977"/>
            <a:ext cx="2934295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9"/>
          <p:cNvSpPr/>
          <p:nvPr/>
        </p:nvSpPr>
        <p:spPr>
          <a:xfrm>
            <a:off x="7561421" y="3070428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Isolamento forte através de SO separado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7561421" y="3451785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Overhead significativo de recursos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7561421" y="3833143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Tempo de inicialização mais lento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9811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Conteinerização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5198" y="21543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Containers Docker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5198" y="342529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Vantagens: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5198" y="399572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Redução significativa de overhead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5198" y="438268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Melhor uso do hardware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5198" y="476963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Tempo de inicialização muito rápido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95198" y="515658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Maior densidade por servidor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89" y="6174902"/>
            <a:ext cx="6759949" cy="729496"/>
          </a:xfrm>
          <a:prstGeom prst="roundRect">
            <a:avLst>
              <a:gd name="adj" fmla="val 1142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9768" y="6380880"/>
            <a:ext cx="6316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Compartilham o mesmo kernel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host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3789" y="7102756"/>
            <a:ext cx="6759949" cy="729496"/>
          </a:xfrm>
          <a:prstGeom prst="roundRect">
            <a:avLst>
              <a:gd name="adj" fmla="val 1142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9768" y="7308734"/>
            <a:ext cx="6316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Isolam apenas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processos e bibliotecas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necessários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3789" y="8030610"/>
            <a:ext cx="6759949" cy="729496"/>
          </a:xfrm>
          <a:prstGeom prst="roundRect">
            <a:avLst>
              <a:gd name="adj" fmla="val 1142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9768" y="8236588"/>
            <a:ext cx="6316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Utilizam recursos do kernel: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cgroups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namespaces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793789" y="8958464"/>
            <a:ext cx="6759949" cy="729496"/>
          </a:xfrm>
          <a:prstGeom prst="roundRect">
            <a:avLst>
              <a:gd name="adj" fmla="val 1142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9768" y="9164442"/>
            <a:ext cx="6316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Consumo em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megabytes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(não gigabytes)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537924"/>
            <a:ext cx="4890492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Iniciais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479" y="1442680"/>
            <a:ext cx="3381018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Portabilidade Garantida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2479" y="2322909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2479" y="2322909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1092398" y="2541389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"Funciona na minha máquina"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em qualquer lugar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2479" y="3387653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479" y="3387653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1092398" y="3486864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Empacota aplicação + dependências em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ambiente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450"/>
              </a:lnSpc>
              <a:buNone/>
            </a:pP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único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2479" y="4333128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2479" y="4333128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398" y="4551608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Simplifica a entrega de software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2479" y="5278603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479" y="5278603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398" y="5497083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Aumenta consistência entre ambientes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2479" y="6578954"/>
            <a:ext cx="3111579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Vantagens Imediatas: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73919" y="7346265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Redução de problemas de compatibilidade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73919" y="7727622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Deployments mais confiáveis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73919" y="8108980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Ambientes de desenvolvimento padronizados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537924"/>
            <a:ext cx="4970859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Conceito - Container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479" y="1442680"/>
            <a:ext cx="3250763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um Container?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82479" y="2322909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2479" y="2322909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6" name="Text 4"/>
          <p:cNvSpPr/>
          <p:nvPr/>
        </p:nvSpPr>
        <p:spPr>
          <a:xfrm>
            <a:off x="1092398" y="2541389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Ambiente isolado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contendo código da aplicação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82479" y="3268385"/>
            <a:ext cx="6294120" cy="1062752"/>
          </a:xfrm>
          <a:prstGeom prst="roundRect">
            <a:avLst>
              <a:gd name="adj" fmla="val 7731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479" y="3268385"/>
            <a:ext cx="91440" cy="1062752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9" name="Text 7"/>
          <p:cNvSpPr/>
          <p:nvPr/>
        </p:nvSpPr>
        <p:spPr>
          <a:xfrm>
            <a:off x="1092398" y="3486864"/>
            <a:ext cx="5765721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Inclui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todas as dependências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: bibliotecas, runtimes, configurações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82479" y="4526756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2479" y="4526756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2398" y="4745236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Instância efêmera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uma 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82479" y="5472232"/>
            <a:ext cx="6294120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2479" y="5472232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398" y="5690711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Executável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roda processos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74859" y="6679278"/>
            <a:ext cx="2934295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74859" y="7241729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 é somente leitura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74859" y="7623086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 é a cópia executável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74859" y="8004444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Pode ser criado, parado, removido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537924"/>
            <a:ext cx="6345674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Conceito - Imagem Docker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479" y="1442680"/>
            <a:ext cx="2934295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Imagem Docker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82479" y="6358899"/>
            <a:ext cx="3094911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Sistema de Camadas: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2479" y="6921350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alteração gera nova camada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2479" y="7302707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Reutilização eficiente de recursos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2479" y="7684065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Cache inteligente para builds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16057" y="2322909"/>
            <a:ext cx="6552144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6057" y="2322909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1" name="Text 8"/>
          <p:cNvSpPr/>
          <p:nvPr/>
        </p:nvSpPr>
        <p:spPr>
          <a:xfrm>
            <a:off x="1125977" y="2541389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Modelo read-only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criar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16057" y="3268385"/>
            <a:ext cx="6552144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6057" y="3268385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4" name="Text 11"/>
          <p:cNvSpPr/>
          <p:nvPr/>
        </p:nvSpPr>
        <p:spPr>
          <a:xfrm>
            <a:off x="1125977" y="3486864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Inclui todo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sistema de arquivos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necessário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816057" y="4213860"/>
            <a:ext cx="6552144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16057" y="4213860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17" name="Text 14"/>
          <p:cNvSpPr/>
          <p:nvPr/>
        </p:nvSpPr>
        <p:spPr>
          <a:xfrm>
            <a:off x="1125977" y="4432340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Contém código executável e bibliotecas da aplicação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16057" y="5159335"/>
            <a:ext cx="6552144" cy="749856"/>
          </a:xfrm>
          <a:prstGeom prst="roundRect">
            <a:avLst>
              <a:gd name="adj" fmla="val 10957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6057" y="5159335"/>
            <a:ext cx="91440" cy="749856"/>
          </a:xfrm>
          <a:prstGeom prst="roundRect">
            <a:avLst>
              <a:gd name="adj" fmla="val 89852"/>
            </a:avLst>
          </a:prstGeom>
          <a:solidFill>
            <a:srgbClr val="2B0A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25977" y="5377815"/>
            <a:ext cx="576572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Múltiplos containers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podem usar a mesma 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2479" y="537924"/>
            <a:ext cx="6070402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Conceito - Docker Engine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2479" y="1442680"/>
            <a:ext cx="2934295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Engine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82479" y="2278856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Runtime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gerencia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82479" y="2767727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Composto por: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79" y="3300651"/>
            <a:ext cx="488990" cy="48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15904" y="3416737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Daemon (dockerd)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15904" y="3917990"/>
            <a:ext cx="556069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Manipula imagens e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79" y="4622125"/>
            <a:ext cx="488990" cy="488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5904" y="4738211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515904" y="5239464"/>
            <a:ext cx="556069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Interface de linha de comando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79" y="5943600"/>
            <a:ext cx="488990" cy="4889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15904" y="6059686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API REST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1515904" y="6560939"/>
            <a:ext cx="5560695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Comunicação programática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1421" y="2322909"/>
            <a:ext cx="6294120" cy="62941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561421" y="8837057"/>
            <a:ext cx="2934295" cy="366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Funcionamento: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7561421" y="9399508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Usuário: docker [comando]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561421" y="9780865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CLI envia comandos ao daemon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561421" y="10162223"/>
            <a:ext cx="6294120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Daemon executa operações (criar, iniciar, parar)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603528"/>
            <a:ext cx="515469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Conceito - Dockerfile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52126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219098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Arquivo de texto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 instruções sequenciais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273177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como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construir uma imagem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Docker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93790" y="327255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linha = operação específica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3887748"/>
            <a:ext cx="316944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Instruções Principais: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57474"/>
            <a:ext cx="3778210" cy="7937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92148" y="5549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FROM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992148" y="5978843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 base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57474"/>
            <a:ext cx="3778210" cy="7937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70358" y="5549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770358" y="5978843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instalar dependências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655" y="4557474"/>
            <a:ext cx="3778210" cy="79379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566013" y="5549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COPY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8566013" y="5978842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copiar arquivos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6832044"/>
            <a:ext cx="3778210" cy="79379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92148" y="7824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CMD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3"/>
          <p:cNvSpPr/>
          <p:nvPr/>
        </p:nvSpPr>
        <p:spPr>
          <a:xfrm>
            <a:off x="992148" y="8253412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 padrão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9445" y="6832044"/>
            <a:ext cx="3778210" cy="79379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4787803" y="78241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EXPOSE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5"/>
          <p:cNvSpPr/>
          <p:nvPr/>
        </p:nvSpPr>
        <p:spPr>
          <a:xfrm>
            <a:off x="4787803" y="8253412"/>
            <a:ext cx="338149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porta a ser exposta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4497"/>
            <a:ext cx="67998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Comparação - Portabilidade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5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Máquinas Virtuais: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42101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Movem SO completo entre ambientes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80797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Imagens grandes (GB)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19492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Possíveis incompatibilidades de hipervisor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64874" y="185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Containers: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564874" y="2445901"/>
            <a:ext cx="6279356" cy="759976"/>
          </a:xfrm>
          <a:prstGeom prst="roundRect">
            <a:avLst>
              <a:gd name="adj" fmla="val 1096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64874" y="2445901"/>
            <a:ext cx="91440" cy="7599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8"/>
          <p:cNvSpPr/>
          <p:nvPr/>
        </p:nvSpPr>
        <p:spPr>
          <a:xfrm>
            <a:off x="7877532" y="2667119"/>
            <a:ext cx="57454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Levam app + bibliotecas necessárias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4874" y="3404235"/>
            <a:ext cx="6279356" cy="759976"/>
          </a:xfrm>
          <a:prstGeom prst="roundRect">
            <a:avLst>
              <a:gd name="adj" fmla="val 1096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64874" y="3404235"/>
            <a:ext cx="91440" cy="7599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4" name="Text 11"/>
          <p:cNvSpPr/>
          <p:nvPr/>
        </p:nvSpPr>
        <p:spPr>
          <a:xfrm>
            <a:off x="7877532" y="3625453"/>
            <a:ext cx="57454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"Funciona em qualquer lugar"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64874" y="4362569"/>
            <a:ext cx="6279356" cy="759976"/>
          </a:xfrm>
          <a:prstGeom prst="roundRect">
            <a:avLst>
              <a:gd name="adj" fmla="val 1096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64874" y="4362569"/>
            <a:ext cx="91440" cy="7599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7" name="Text 14"/>
          <p:cNvSpPr/>
          <p:nvPr/>
        </p:nvSpPr>
        <p:spPr>
          <a:xfrm>
            <a:off x="7877532" y="4583787"/>
            <a:ext cx="57454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Imagens menores e mais portáveis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564874" y="5320903"/>
            <a:ext cx="6279356" cy="759976"/>
          </a:xfrm>
          <a:prstGeom prst="roundRect">
            <a:avLst>
              <a:gd name="adj" fmla="val 1096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64874" y="5320903"/>
            <a:ext cx="91440" cy="75997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Text 17"/>
          <p:cNvSpPr/>
          <p:nvPr/>
        </p:nvSpPr>
        <p:spPr>
          <a:xfrm>
            <a:off x="7877532" y="5542121"/>
            <a:ext cx="574548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Consistência entre ambientes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10972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1535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Build da Imagem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453164"/>
            <a:ext cx="308395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Criação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da Imagem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122890"/>
            <a:ext cx="7556421" cy="615196"/>
          </a:xfrm>
          <a:prstGeom prst="roundRect">
            <a:avLst>
              <a:gd name="adj" fmla="val 13550"/>
            </a:avLst>
          </a:prstGeom>
          <a:solidFill>
            <a:srgbClr val="343232"/>
          </a:solidFill>
          <a:ln/>
        </p:spPr>
      </p:sp>
      <p:sp>
        <p:nvSpPr>
          <p:cNvPr id="6" name="Shape 3"/>
          <p:cNvSpPr/>
          <p:nvPr/>
        </p:nvSpPr>
        <p:spPr>
          <a:xfrm>
            <a:off x="783908" y="3122890"/>
            <a:ext cx="7576185" cy="615196"/>
          </a:xfrm>
          <a:prstGeom prst="roundRect">
            <a:avLst>
              <a:gd name="adj" fmla="val 4839"/>
            </a:avLst>
          </a:prstGeom>
          <a:solidFill>
            <a:srgbClr val="343232"/>
          </a:solidFill>
          <a:ln/>
        </p:spPr>
      </p:sp>
      <p:sp>
        <p:nvSpPr>
          <p:cNvPr id="7" name="Text 4"/>
          <p:cNvSpPr/>
          <p:nvPr/>
        </p:nvSpPr>
        <p:spPr>
          <a:xfrm>
            <a:off x="982266" y="3271718"/>
            <a:ext cx="717946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build -t nome-imagem 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3790" y="40357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Processo: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93790" y="4705469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93790" y="4705469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8"/>
          <p:cNvSpPr/>
          <p:nvPr/>
        </p:nvSpPr>
        <p:spPr>
          <a:xfrm>
            <a:off x="1106448" y="49266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Camadas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106448" y="5355908"/>
            <a:ext cx="70225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Cada instrução Dockerfile gera uma nova camada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6093023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3790" y="6093023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5" name="Text 12"/>
          <p:cNvSpPr/>
          <p:nvPr/>
        </p:nvSpPr>
        <p:spPr>
          <a:xfrm>
            <a:off x="1106448" y="63142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Cache Inteligente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06448" y="6743462"/>
            <a:ext cx="70225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Acelera builds subsequentes reutilizando camadas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93790" y="7480578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3790" y="7480578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9" name="Text 16"/>
          <p:cNvSpPr/>
          <p:nvPr/>
        </p:nvSpPr>
        <p:spPr>
          <a:xfrm>
            <a:off x="1106448" y="77017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Versionamento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106448" y="8131016"/>
            <a:ext cx="70225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Através de tags para identificar e gerenciar versões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93790" y="8868132"/>
            <a:ext cx="7556421" cy="1189196"/>
          </a:xfrm>
          <a:prstGeom prst="roundRect">
            <a:avLst>
              <a:gd name="adj" fmla="val 701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93790" y="8868132"/>
            <a:ext cx="91440" cy="118919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3" name="Text 20"/>
          <p:cNvSpPr/>
          <p:nvPr/>
        </p:nvSpPr>
        <p:spPr>
          <a:xfrm>
            <a:off x="1106448" y="90893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Resultado Final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06448" y="9518571"/>
            <a:ext cx="702254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Uma imagem pronta para uso e distribuição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87760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Criação do Container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1595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Instanciação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do Container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os comandos a seguir para criar e iniciar um container a partir de uma imagem: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4486513"/>
            <a:ext cx="6279356" cy="2202894"/>
          </a:xfrm>
          <a:prstGeom prst="roundRect">
            <a:avLst>
              <a:gd name="adj" fmla="val 3784"/>
            </a:avLst>
          </a:prstGeom>
          <a:solidFill>
            <a:srgbClr val="343232"/>
          </a:solidFill>
          <a:ln/>
        </p:spPr>
      </p:sp>
      <p:sp>
        <p:nvSpPr>
          <p:cNvPr id="6" name="Shape 4"/>
          <p:cNvSpPr/>
          <p:nvPr/>
        </p:nvSpPr>
        <p:spPr>
          <a:xfrm>
            <a:off x="783908" y="4486513"/>
            <a:ext cx="6299121" cy="2202894"/>
          </a:xfrm>
          <a:prstGeom prst="roundRect">
            <a:avLst>
              <a:gd name="adj" fmla="val 1351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4635341"/>
            <a:ext cx="5902404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Criar e iniciar em um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passo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-d -p 80:80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nome-imagem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Ou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separadamente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create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nome-imagem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start container-id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30577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acontece: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4874" y="3653076"/>
            <a:ext cx="6279356" cy="1833324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4874" y="3653076"/>
            <a:ext cx="91440" cy="1833324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7877532" y="387429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Pull da Imagem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877532" y="4382810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 imagem é baixada do Docker Hub (ou de um registro privado), caso não esteja disponível localmente.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64874" y="5795274"/>
            <a:ext cx="6279356" cy="1833324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64874" y="5795274"/>
            <a:ext cx="91440" cy="1833324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7877532" y="6016492"/>
            <a:ext cx="25634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Criação do Container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77532" y="6525008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Uma camada de leitura/escrita é adicionada sobre as camadas da imagem, criando um ambiente isolado.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64874" y="7831454"/>
            <a:ext cx="6279356" cy="1833323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64874" y="7831454"/>
            <a:ext cx="91440" cy="1833323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7877532" y="8052673"/>
            <a:ext cx="29727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Inicialização Automática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77532" y="8561189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comando definido na imagem (CMD ou ENTRYPOINT) é executado, iniciando os processos da aplicação.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84503"/>
            <a:ext cx="4509254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Execução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1472922"/>
            <a:ext cx="241053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Estados do Container: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1882364"/>
            <a:ext cx="5235949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98405" y="2099306"/>
            <a:ext cx="154687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1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42618" y="257044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Running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93790" y="3971385"/>
            <a:ext cx="5235949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43580" y="4188327"/>
            <a:ext cx="154687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2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42618" y="4672713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Paused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42618" y="4954783"/>
            <a:ext cx="5029698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está temporariamente suspenso, com todos os processos congelados, mas mantendo seu estado.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93790" y="6113002"/>
            <a:ext cx="5235949" cy="446484"/>
          </a:xfrm>
          <a:prstGeom prst="roundRect">
            <a:avLst>
              <a:gd name="adj" fmla="val 48009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57077" y="6306447"/>
            <a:ext cx="154687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32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3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42618" y="6748071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Stopped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98241" y="1501423"/>
            <a:ext cx="284333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Container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em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Exeução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98241" y="1897612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Após a criação e inicialização, o container entra em seu estado de execução, onde a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aplicação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reside e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interage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com o ambiente. Use os comandos abaixo para monitorar e gerenciar: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90859" y="3018343"/>
            <a:ext cx="7571184" cy="2128123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22" name="Text 19"/>
          <p:cNvSpPr/>
          <p:nvPr/>
        </p:nvSpPr>
        <p:spPr>
          <a:xfrm>
            <a:off x="6739687" y="3129905"/>
            <a:ext cx="7273528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Verificar containers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rodando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ps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Verificar todos (inclusive parados)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ps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–a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Logs do container</a:t>
            </a:r>
          </a:p>
          <a:p>
            <a:pPr marL="0" indent="0" algn="l">
              <a:lnSpc>
                <a:spcPts val="18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logs &lt;container-id&gt;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B01140E-7DE7-33A7-13BA-75F2D77560BF}"/>
              </a:ext>
            </a:extLst>
          </p:cNvPr>
          <p:cNvSpPr txBox="1"/>
          <p:nvPr/>
        </p:nvSpPr>
        <p:spPr>
          <a:xfrm>
            <a:off x="886182" y="7072099"/>
            <a:ext cx="50688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não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está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mais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executando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mas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seus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dados e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configurações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persistem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até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ser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removido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8CE7C4C-3776-BCCE-9DCA-1AA3A87FA1F2}"/>
              </a:ext>
            </a:extLst>
          </p:cNvPr>
          <p:cNvSpPr txBox="1"/>
          <p:nvPr/>
        </p:nvSpPr>
        <p:spPr>
          <a:xfrm>
            <a:off x="886182" y="2870051"/>
            <a:ext cx="51490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container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está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ativo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e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executando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sua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aplicação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ou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processos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definidos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594110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Interação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38959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Interagindo</a:t>
            </a: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 com Containers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o comando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interagir diretamente com um container em execução, permitindo a execução de comandos ou o acesso a um shell interativo dentro dele.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3908" y="5214871"/>
            <a:ext cx="6299121" cy="2837974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82266" y="5363699"/>
            <a:ext cx="590240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Executar comando no container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-it &lt;container-id&gt; bash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Acessar shell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interativo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-it &lt;container-id&gt; /bin/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sh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Executar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comando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específico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exec &lt;container-id&gt; ls -la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30577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Possibilidades: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64874" y="3653076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86092" y="3874294"/>
            <a:ext cx="30503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Debug e Troubleshooting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86092" y="4382810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Acesse o ambiente interno do container para depurar aplicações e identificar problemas.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564874" y="5437465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86092" y="565868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Manutenção Manual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6092" y="6167199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Realize tarefas pontuais de manutenção ou instalação de ferramentas temporárias.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64874" y="7221855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6092" y="7443073"/>
            <a:ext cx="3575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Verificação de Estado Interno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86092" y="7951589"/>
            <a:ext cx="583692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Inspecione arquivos, processos e variáveis de ambiente para verificar o estado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1157"/>
            <a:ext cx="7721679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Ciclo de Vida - Parada e Remoção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358866"/>
            <a:ext cx="6291382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Após a utilização, os containers podem ser parados e removidos para liberar recursos. O Docker oferece comandos simples para gerenciar o fim do ciclo de vida de um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84384" y="3953109"/>
            <a:ext cx="6310193" cy="2696289"/>
          </a:xfrm>
          <a:prstGeom prst="roundRect">
            <a:avLst>
              <a:gd name="adj" fmla="val 1049"/>
            </a:avLst>
          </a:prstGeom>
          <a:solidFill>
            <a:srgbClr val="343232"/>
          </a:solidFill>
          <a:ln/>
        </p:spPr>
      </p:sp>
      <p:sp>
        <p:nvSpPr>
          <p:cNvPr id="7" name="Text 5"/>
          <p:cNvSpPr/>
          <p:nvPr/>
        </p:nvSpPr>
        <p:spPr>
          <a:xfrm>
            <a:off x="972860" y="4094436"/>
            <a:ext cx="5933242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Parar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em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execução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stop &lt;container-id&gt;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Remover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parado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rm &lt;container-id&gt;</a:t>
            </a:r>
          </a:p>
          <a:p>
            <a:pPr marL="0" indent="0" algn="l">
              <a:lnSpc>
                <a:spcPts val="235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Criar e remover automaticamente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sair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--rm nome-imagem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52849" y="2377678"/>
            <a:ext cx="357616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Características Efêmeras: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52849" y="3225879"/>
            <a:ext cx="6291382" cy="1769269"/>
          </a:xfrm>
          <a:prstGeom prst="roundRect">
            <a:avLst>
              <a:gd name="adj" fmla="val 6202"/>
            </a:avLst>
          </a:prstGeom>
          <a:solidFill>
            <a:srgbClr val="272525"/>
          </a:solidFill>
          <a:ln/>
        </p:spPr>
      </p:sp>
      <p:sp>
        <p:nvSpPr>
          <p:cNvPr id="10" name="Shape 8"/>
          <p:cNvSpPr/>
          <p:nvPr/>
        </p:nvSpPr>
        <p:spPr>
          <a:xfrm>
            <a:off x="7552849" y="3203019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15707" y="2943106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5371" y="3084433"/>
            <a:ext cx="226219" cy="28277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64185" y="369724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Descartáveis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764185" y="4180403"/>
            <a:ext cx="5868710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Containers são projetados para serem efêmeros e podem ser facilmente removidos quando não são mais necessários.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52849" y="5466398"/>
            <a:ext cx="6291382" cy="2070973"/>
          </a:xfrm>
          <a:prstGeom prst="roundRect">
            <a:avLst>
              <a:gd name="adj" fmla="val 5298"/>
            </a:avLst>
          </a:prstGeom>
          <a:solidFill>
            <a:srgbClr val="272525"/>
          </a:solidFill>
          <a:ln/>
        </p:spPr>
      </p:sp>
      <p:sp>
        <p:nvSpPr>
          <p:cNvPr id="16" name="Shape 13"/>
          <p:cNvSpPr/>
          <p:nvPr/>
        </p:nvSpPr>
        <p:spPr>
          <a:xfrm>
            <a:off x="7552849" y="5443538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17" name="Shape 14"/>
          <p:cNvSpPr/>
          <p:nvPr/>
        </p:nvSpPr>
        <p:spPr>
          <a:xfrm>
            <a:off x="10415707" y="5183624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371" y="5324951"/>
            <a:ext cx="226219" cy="28277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64185" y="593776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Dados Persistentes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764185" y="6420922"/>
            <a:ext cx="5868710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Os dados dentro de um container só persistem se forem armazenados em volumes externos, desacoplando o estado da aplicação do container em si.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7552849" y="8008620"/>
            <a:ext cx="6291382" cy="2070973"/>
          </a:xfrm>
          <a:prstGeom prst="roundRect">
            <a:avLst>
              <a:gd name="adj" fmla="val 5298"/>
            </a:avLst>
          </a:prstGeom>
          <a:solidFill>
            <a:srgbClr val="272525"/>
          </a:solidFill>
          <a:ln/>
        </p:spPr>
      </p:sp>
      <p:sp>
        <p:nvSpPr>
          <p:cNvPr id="22" name="Shape 18"/>
          <p:cNvSpPr/>
          <p:nvPr/>
        </p:nvSpPr>
        <p:spPr>
          <a:xfrm>
            <a:off x="7552849" y="7985760"/>
            <a:ext cx="6291382" cy="91440"/>
          </a:xfrm>
          <a:prstGeom prst="roundRect">
            <a:avLst>
              <a:gd name="adj" fmla="val 86605"/>
            </a:avLst>
          </a:prstGeom>
          <a:solidFill>
            <a:srgbClr val="2B0AFF"/>
          </a:solidFill>
          <a:ln/>
        </p:spPr>
      </p:sp>
      <p:sp>
        <p:nvSpPr>
          <p:cNvPr id="23" name="Shape 19"/>
          <p:cNvSpPr/>
          <p:nvPr/>
        </p:nvSpPr>
        <p:spPr>
          <a:xfrm>
            <a:off x="10415707" y="7725847"/>
            <a:ext cx="565547" cy="565547"/>
          </a:xfrm>
          <a:prstGeom prst="roundRect">
            <a:avLst>
              <a:gd name="adj" fmla="val 161684"/>
            </a:avLst>
          </a:prstGeom>
          <a:solidFill>
            <a:srgbClr val="2B0AFF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5371" y="7867174"/>
            <a:ext cx="226219" cy="28277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764185" y="847998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Limpeza Regular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7764185" y="8963144"/>
            <a:ext cx="5868710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Remover containers e imagens não utilizados regularmente é uma boa prática para liberar espaço em disco e otimizar os recursos do sistema.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41320"/>
            <a:ext cx="77362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Comandos Básicos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057412"/>
            <a:ext cx="379845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Fundamentais: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4652724"/>
            <a:ext cx="6279356" cy="3155513"/>
          </a:xfrm>
          <a:prstGeom prst="roundRect">
            <a:avLst>
              <a:gd name="adj" fmla="val 2642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4652724"/>
            <a:ext cx="6299121" cy="3155513"/>
          </a:xfrm>
          <a:prstGeom prst="roundRect">
            <a:avLst>
              <a:gd name="adj" fmla="val 943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4801553"/>
            <a:ext cx="5902404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Executar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container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 -d --name app -p 3000:3000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Construir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build -t tag .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Baixar/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enviar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imagens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pull ubuntu:20.04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push usuario/imagem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64874" y="405741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Gerenciamento: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64874" y="4627840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listar containers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4874" y="5014793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images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listar imagens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64874" y="540174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logs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visualizar logs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5FB7D299-738D-252F-CDED-8763C476EBEC}"/>
              </a:ext>
            </a:extLst>
          </p:cNvPr>
          <p:cNvSpPr/>
          <p:nvPr/>
        </p:nvSpPr>
        <p:spPr>
          <a:xfrm>
            <a:off x="7547373" y="5788701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pull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-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baixa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Docker Hub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483"/>
            <a:ext cx="681513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Gerenciamento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492216"/>
            <a:ext cx="429339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de Administração: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385185"/>
            <a:ext cx="6279356" cy="4743212"/>
          </a:xfrm>
          <a:prstGeom prst="roundRect">
            <a:avLst>
              <a:gd name="adj" fmla="val 1757"/>
            </a:avLst>
          </a:prstGeom>
          <a:solidFill>
            <a:srgbClr val="343232"/>
          </a:solidFill>
          <a:ln/>
        </p:spPr>
      </p:sp>
      <p:sp>
        <p:nvSpPr>
          <p:cNvPr id="5" name="Shape 3"/>
          <p:cNvSpPr/>
          <p:nvPr/>
        </p:nvSpPr>
        <p:spPr>
          <a:xfrm>
            <a:off x="355818" y="3385184"/>
            <a:ext cx="7077792" cy="6013133"/>
          </a:xfrm>
          <a:prstGeom prst="roundRect">
            <a:avLst>
              <a:gd name="adj" fmla="val 628"/>
            </a:avLst>
          </a:prstGeom>
          <a:solidFill>
            <a:srgbClr val="343232"/>
          </a:solidFill>
          <a:ln/>
        </p:spPr>
      </p:sp>
      <p:sp>
        <p:nvSpPr>
          <p:cNvPr id="6" name="Text 4"/>
          <p:cNvSpPr/>
          <p:nvPr/>
        </p:nvSpPr>
        <p:spPr>
          <a:xfrm>
            <a:off x="554175" y="3534013"/>
            <a:ext cx="7421288" cy="444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containers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start &lt;id&gt; # Inicia um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parado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stop &lt;id&gt; # Para um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em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execução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restart &lt;id&gt;  # Reinicia um container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Remover containers e imagens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rm &lt;id&gt; # Remove um container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parado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rmi &lt;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&gt; # Remove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uma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imagem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Limpeza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geral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system prune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  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Remove containers, redes, imagens e cache de build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não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usados</a:t>
            </a: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prune     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Remove volumes órfãos (não usados por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nenhum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container)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564873" y="3385185"/>
            <a:ext cx="6511351" cy="1903571"/>
          </a:xfrm>
          <a:prstGeom prst="roundRect">
            <a:avLst>
              <a:gd name="adj" fmla="val 437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7734" y="3408045"/>
            <a:ext cx="793790" cy="1857851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1931" y="4150876"/>
            <a:ext cx="297656" cy="37207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579882" y="3606403"/>
            <a:ext cx="26606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Controle de Container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579882" y="4114919"/>
            <a:ext cx="52414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Gerencie o ciclo de vida dos containers, iniciando, parando e reiniciando conforme a necessidade de suas aplicações.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564873" y="5487114"/>
            <a:ext cx="6511351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87734" y="5509974"/>
            <a:ext cx="793790" cy="1540312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931" y="6094095"/>
            <a:ext cx="297656" cy="37207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79882" y="5708333"/>
            <a:ext cx="2652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Exclusão de Recursos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579882" y="6124084"/>
            <a:ext cx="524148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Remova containers e imagens para liberar espaço em disco e manter seu ambiente organizado.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7564873" y="7271504"/>
            <a:ext cx="6511351" cy="1903571"/>
          </a:xfrm>
          <a:prstGeom prst="roundRect">
            <a:avLst>
              <a:gd name="adj" fmla="val 437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587734" y="7294364"/>
            <a:ext cx="793790" cy="1857851"/>
          </a:xfrm>
          <a:prstGeom prst="roundRect">
            <a:avLst>
              <a:gd name="adj" fmla="val 7046"/>
            </a:avLst>
          </a:prstGeom>
          <a:solidFill>
            <a:srgbClr val="11008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931" y="8037195"/>
            <a:ext cx="297656" cy="3720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79882" y="7492722"/>
            <a:ext cx="2657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Otimização e Limpeza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579882" y="8001238"/>
            <a:ext cx="52414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comandos de “prune” para limpar recursos não utilizados automaticamente, mantendo o sistema leve e eficiente.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082998"/>
            <a:ext cx="69682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CLI - Rede e Volumes</a:t>
            </a: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199090"/>
            <a:ext cx="336149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Avançados: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93790" y="3794403"/>
            <a:ext cx="3536156" cy="3155513"/>
          </a:xfrm>
          <a:prstGeom prst="roundRect">
            <a:avLst>
              <a:gd name="adj" fmla="val 2642"/>
            </a:avLst>
          </a:prstGeom>
          <a:solidFill>
            <a:srgbClr val="343232"/>
          </a:solidFill>
          <a:ln/>
        </p:spPr>
      </p:sp>
      <p:sp>
        <p:nvSpPr>
          <p:cNvPr id="6" name="Shape 3"/>
          <p:cNvSpPr/>
          <p:nvPr/>
        </p:nvSpPr>
        <p:spPr>
          <a:xfrm>
            <a:off x="783908" y="3794403"/>
            <a:ext cx="4397692" cy="3155513"/>
          </a:xfrm>
          <a:prstGeom prst="roundRect">
            <a:avLst>
              <a:gd name="adj" fmla="val 943"/>
            </a:avLst>
          </a:prstGeom>
          <a:solidFill>
            <a:srgbClr val="343232"/>
          </a:solidFill>
          <a:ln/>
        </p:spPr>
      </p:sp>
      <p:sp>
        <p:nvSpPr>
          <p:cNvPr id="7" name="Text 4"/>
          <p:cNvSpPr/>
          <p:nvPr/>
        </p:nvSpPr>
        <p:spPr>
          <a:xfrm>
            <a:off x="982265" y="3943231"/>
            <a:ext cx="6779777" cy="2857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redes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create rede-app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ls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network inspect bridge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343232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</a:t>
            </a:r>
            <a:r>
              <a:rPr lang="en-US" sz="2000" dirty="0" err="1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Gerenciar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volumes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create dados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ls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volume inspect dados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283" y="2671940"/>
            <a:ext cx="496133" cy="4961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32283" y="34160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Redes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8532282" y="3924597"/>
            <a:ext cx="54752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Facilitam a comunicação entre containers e o mundo exterior, garantindo isolamento e organização para suas aplicações distribuídas.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283" y="5591591"/>
            <a:ext cx="496133" cy="496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32283" y="633573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8532282" y="6844248"/>
            <a:ext cx="547526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Garantem a persistência de dados fora do ciclo de vida do container, prevenindo a perda de informações cruciais ao remover containers.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0329"/>
            <a:ext cx="768667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 - Instruções Principais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602224"/>
            <a:ext cx="3127534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Comandos Essenciais: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38375"/>
            <a:ext cx="471368" cy="471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294536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FROM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953" y="2238375"/>
            <a:ext cx="471368" cy="4713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2953" y="294536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WORKDIR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32953" y="3353157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Configura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diretório de trabalho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comandos subsequentes no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333637"/>
            <a:ext cx="471368" cy="4713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04063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COPY / ADD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5448419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Copia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arquivos e diretórios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do seu sistema para o sistema de arquivos da imagem.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953" y="4333637"/>
            <a:ext cx="471368" cy="4713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2953" y="5040630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7432953" y="5448419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Executa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durante a fase de build da imagem, como instalação de pacotes.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6428899"/>
            <a:ext cx="471368" cy="4713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3790" y="713589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ENV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93790" y="7543681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variáveis de ambiente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estarão disponíveis no container em tempo de execução.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953" y="6428899"/>
            <a:ext cx="471368" cy="4713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32953" y="713589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EXPOSE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7432953" y="7543681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Documenta as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portas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a aplicação dentro do container irá escutar (não publica a porta).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790" y="8524161"/>
            <a:ext cx="471368" cy="4713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3790" y="923115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VOLUME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793790" y="9638943"/>
            <a:ext cx="640353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Cria um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ponto de montagem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para volumes externos, persistindo dados fora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2953" y="8524161"/>
            <a:ext cx="471368" cy="4713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432953" y="923115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CMD / ENTRYPOINT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7432953" y="9638943"/>
            <a:ext cx="6403658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comando padrão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que será executado quando um container for iniciado a partir da imagem.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A87165D-39E5-2A88-4D0C-25175DE575F9}"/>
              </a:ext>
            </a:extLst>
          </p:cNvPr>
          <p:cNvSpPr txBox="1"/>
          <p:nvPr/>
        </p:nvSpPr>
        <p:spPr>
          <a:xfrm>
            <a:off x="689113" y="3353157"/>
            <a:ext cx="64035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235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a </a:t>
            </a:r>
            <a:r>
              <a:rPr lang="en-US" sz="2000" b="1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imagem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base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partir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da qual o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Dockerfile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será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construído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731877"/>
            <a:ext cx="627590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Dockerfile - Boas Práticas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1847969"/>
            <a:ext cx="5127307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Otimizações para Builds Eficientes: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93790" y="2443282"/>
            <a:ext cx="6279356" cy="1903571"/>
          </a:xfrm>
          <a:prstGeom prst="roundRect">
            <a:avLst>
              <a:gd name="adj" fmla="val 4379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3790" y="2443282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8" name="Text 5"/>
          <p:cNvSpPr/>
          <p:nvPr/>
        </p:nvSpPr>
        <p:spPr>
          <a:xfrm>
            <a:off x="1106448" y="266450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Use .dockerignore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106448" y="3173016"/>
            <a:ext cx="57454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Exclua arquivos e diretórios desnecessários do contexto do build para reduzir o tamanho da imagem e acelerar o processo.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545211"/>
            <a:ext cx="6279356" cy="1745056"/>
          </a:xfrm>
          <a:prstGeom prst="roundRect">
            <a:avLst>
              <a:gd name="adj" fmla="val 5256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93790" y="4545211"/>
            <a:ext cx="91440" cy="1745056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2" name="Text 9"/>
          <p:cNvSpPr/>
          <p:nvPr/>
        </p:nvSpPr>
        <p:spPr>
          <a:xfrm>
            <a:off x="1106448" y="4766429"/>
            <a:ext cx="327910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Concatene Comandos RUN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106448" y="5274945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Combine múltiplos comandos RUN em uma única instrução para minimizar o número de camadas da imagem final.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93790" y="6488625"/>
            <a:ext cx="6279356" cy="1903571"/>
          </a:xfrm>
          <a:prstGeom prst="roundRect">
            <a:avLst>
              <a:gd name="adj" fmla="val 4379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3790" y="6488625"/>
            <a:ext cx="91440" cy="1903571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6" name="Text 13"/>
          <p:cNvSpPr/>
          <p:nvPr/>
        </p:nvSpPr>
        <p:spPr>
          <a:xfrm>
            <a:off x="1106448" y="67098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Multi-stage Builds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106448" y="7218359"/>
            <a:ext cx="574548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Utilize builds em múltiplos estágios para criar imagens menores e mais seguras, separando o ambiente de build do ambiente de execução.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93790" y="8590554"/>
            <a:ext cx="6279356" cy="1903570"/>
          </a:xfrm>
          <a:prstGeom prst="roundRect">
            <a:avLst>
              <a:gd name="adj" fmla="val 5256"/>
            </a:avLst>
          </a:prstGeom>
          <a:solidFill>
            <a:srgbClr val="000000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93790" y="8590554"/>
            <a:ext cx="91440" cy="190357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06448" y="8811772"/>
            <a:ext cx="267223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Imagens Base Oficiais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06448" y="9320288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Sempre prefira imagens base oficiais e mantenha-as atualizadas para garantir segurança e compatibilidade.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564874" y="1847969"/>
            <a:ext cx="39092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Exemplo Multi-stage Build: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564874" y="2443282"/>
            <a:ext cx="6279356" cy="3790593"/>
          </a:xfrm>
          <a:prstGeom prst="roundRect">
            <a:avLst>
              <a:gd name="adj" fmla="val 2199"/>
            </a:avLst>
          </a:prstGeom>
          <a:solidFill>
            <a:srgbClr val="0D0D0D"/>
          </a:solidFill>
          <a:ln/>
        </p:spPr>
      </p:sp>
      <p:sp>
        <p:nvSpPr>
          <p:cNvPr id="24" name="Shape 21"/>
          <p:cNvSpPr/>
          <p:nvPr/>
        </p:nvSpPr>
        <p:spPr>
          <a:xfrm>
            <a:off x="7554992" y="2443282"/>
            <a:ext cx="6299121" cy="3790593"/>
          </a:xfrm>
          <a:prstGeom prst="roundRect">
            <a:avLst>
              <a:gd name="adj" fmla="val 785"/>
            </a:avLst>
          </a:prstGeom>
          <a:solidFill>
            <a:srgbClr val="0D0D0D"/>
          </a:solidFill>
          <a:ln/>
        </p:spPr>
      </p:sp>
      <p:sp>
        <p:nvSpPr>
          <p:cNvPr id="25" name="Text 22"/>
          <p:cNvSpPr/>
          <p:nvPr/>
        </p:nvSpPr>
        <p:spPr>
          <a:xfrm>
            <a:off x="7753350" y="2592110"/>
            <a:ext cx="5902404" cy="3492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Build stage: Compila a </a:t>
            </a:r>
            <a:r>
              <a:rPr lang="en-US" sz="2000" dirty="0" err="1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aplicação</a:t>
            </a: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 Go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FROM golang:1.19 AS builder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WORKDIR /app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COPY . .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RUN go build -o app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>
              <a:solidFill>
                <a:srgbClr val="E5E0DF"/>
              </a:solidFill>
              <a:highlight>
                <a:srgbClr val="0D0D0D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# Runtime stage: Cria a imagem final </a:t>
            </a:r>
            <a:r>
              <a:rPr lang="en-US" sz="2000" dirty="0" err="1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leve</a:t>
            </a:r>
            <a:endParaRPr lang="en-US" sz="2000" dirty="0">
              <a:solidFill>
                <a:srgbClr val="E5E0DF"/>
              </a:solidFill>
              <a:highlight>
                <a:srgbClr val="0D0D0D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FROM </a:t>
            </a:r>
            <a:r>
              <a:rPr lang="en-US" sz="2000" dirty="0" err="1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alpine:latest</a:t>
            </a:r>
            <a:endParaRPr lang="en-US" sz="2000" dirty="0">
              <a:solidFill>
                <a:srgbClr val="E5E0DF"/>
              </a:solidFill>
              <a:highlight>
                <a:srgbClr val="0D0D0D"/>
              </a:highlight>
              <a:latin typeface="Arial" panose="020B0604020202020204" pitchFamily="34" charset="0"/>
              <a:ea typeface="Consolas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WORKDIR /app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COPY --from=builder /app .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highlight>
                  <a:srgbClr val="0D0D0D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CMD ["./app"]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564874" y="6457117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Este exemplo mostra como usar um build multi-stage para compilar uma aplicação Go em um estágio e depois copiar o executável compilado para uma imagem base menor (Alpine) no estágio final, resultando em uma imagem Docker otimizada.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1671"/>
            <a:ext cx="98125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Volumes - Persistência de Dados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057763"/>
            <a:ext cx="448413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Por que Volumes são Cruciais?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3628192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sistema de arquivos do container é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efêmero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por padrão.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4015145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Dados são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perdidos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ao remover um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0209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Volumes permitem a </a:t>
            </a:r>
            <a:r>
              <a:rPr lang="en-US" sz="2000" b="1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persistência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de dados essenciais.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3790" y="478905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Dados em volumes sobrevivem a reinícios e exclusões de containers.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002195" y="3057763"/>
            <a:ext cx="3160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Principais: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002195" y="3653076"/>
            <a:ext cx="6279356" cy="1748698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2195" y="3653076"/>
            <a:ext cx="91440" cy="1748698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1" name="Text 9"/>
          <p:cNvSpPr/>
          <p:nvPr/>
        </p:nvSpPr>
        <p:spPr>
          <a:xfrm>
            <a:off x="8314853" y="3874294"/>
            <a:ext cx="2866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Performance Otimizada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14853" y="4382810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Melhor desempenho de I/O em comparação com a gravação direta no sistema de arquivos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02195" y="5622993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02195" y="5622993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14853" y="5844211"/>
            <a:ext cx="418671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Facilidade de Backup/Restauração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14853" y="6352727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Simplifica o processo de backup e restauração de dados, desacoplando-os do container.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02195" y="7407383"/>
            <a:ext cx="6279356" cy="1586032"/>
          </a:xfrm>
          <a:prstGeom prst="roundRect">
            <a:avLst>
              <a:gd name="adj" fmla="val 5256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02195" y="7407383"/>
            <a:ext cx="91440" cy="1586032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19" name="Text 17"/>
          <p:cNvSpPr/>
          <p:nvPr/>
        </p:nvSpPr>
        <p:spPr>
          <a:xfrm>
            <a:off x="8314853" y="7628601"/>
            <a:ext cx="324766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Compartilhamento Flexível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314853" y="8137117"/>
            <a:ext cx="574548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Permite que múltiplos containers acessem e compartilhem os mesmos dados simultaneamente.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630"/>
            <a:ext cx="72625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Docker Compose - Introdução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579364"/>
            <a:ext cx="382964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O que é Docker Compose?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24909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O Docker Compose é uma ferramenta que permite definir e executar aplicações Docker multicontêiner. Com um único arquivo de configuração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YAML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você pode configurar todos os serviços da sua aplicação, suas redes e volumes, e inicializá-los com um comando simples.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424951"/>
            <a:ext cx="6422231" cy="1665543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5008" y="36461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Ferramenta YAML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008" y="407539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Define a arquitetura completa para aplicações multicontêiner em um arquivo simples.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14379" y="3424951"/>
            <a:ext cx="6422231" cy="1665543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597" y="3646170"/>
            <a:ext cx="386572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Substitui Comandos Complexos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35597" y="4075390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Elimina a necessidade de múltiplos comandos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 run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, simplificando o processo de inicialização.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5209558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5008" y="5430776"/>
            <a:ext cx="3569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Infraestrutura em um Arquivo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15008" y="585999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Toda a configuração de serviços, redes e volumes da sua aplicação fica centralizada.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14379" y="5209558"/>
            <a:ext cx="6422231" cy="1506736"/>
          </a:xfrm>
          <a:prstGeom prst="roundRect">
            <a:avLst>
              <a:gd name="adj" fmla="val 5532"/>
            </a:avLst>
          </a:prstGeom>
          <a:solidFill>
            <a:srgbClr val="272525"/>
          </a:solidFill>
          <a:ln w="22860">
            <a:solidFill>
              <a:srgbClr val="AFCB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597" y="5430776"/>
            <a:ext cx="36073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Um Comando para Subir Tudo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35597" y="5859996"/>
            <a:ext cx="597979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Inicie todos os serviços definidos com apenas um comando: </a:t>
            </a:r>
            <a:r>
              <a:rPr lang="en-US" sz="2000" dirty="0">
                <a:solidFill>
                  <a:srgbClr val="E5E0DF"/>
                </a:solidFill>
                <a:highlight>
                  <a:srgbClr val="343232"/>
                </a:highlight>
                <a:latin typeface="Arial" panose="020B0604020202020204" pitchFamily="34" charset="0"/>
                <a:ea typeface="Consolas" pitchFamily="34" charset="-122"/>
                <a:cs typeface="Arial" panose="020B0604020202020204" pitchFamily="34" charset="0"/>
              </a:rPr>
              <a:t>docker-compose up</a:t>
            </a: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3790" y="6934438"/>
            <a:ext cx="3160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Benefícios Principais: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93790" y="7901821"/>
            <a:ext cx="4215289" cy="2409349"/>
          </a:xfrm>
          <a:prstGeom prst="roundRect">
            <a:avLst>
              <a:gd name="adj" fmla="val 4554"/>
            </a:avLst>
          </a:prstGeom>
          <a:solidFill>
            <a:srgbClr val="272525"/>
          </a:solidFill>
          <a:ln/>
        </p:spPr>
      </p:sp>
      <p:sp>
        <p:nvSpPr>
          <p:cNvPr id="19" name="Shape 17"/>
          <p:cNvSpPr/>
          <p:nvPr/>
        </p:nvSpPr>
        <p:spPr>
          <a:xfrm>
            <a:off x="793790" y="787896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0" name="Shape 18"/>
          <p:cNvSpPr/>
          <p:nvPr/>
        </p:nvSpPr>
        <p:spPr>
          <a:xfrm>
            <a:off x="2603778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72" y="7752993"/>
            <a:ext cx="238125" cy="29765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15008" y="8397954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Desenvolvimento Local Simplificado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015008" y="9137333"/>
            <a:ext cx="419242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Crie ambientes de desenvolvimento idênticos à produção com facilidade, sem configurações manuais complexas.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207437" y="7901821"/>
            <a:ext cx="4215408" cy="2409349"/>
          </a:xfrm>
          <a:prstGeom prst="roundRect">
            <a:avLst>
              <a:gd name="adj" fmla="val 4554"/>
            </a:avLst>
          </a:prstGeom>
          <a:solidFill>
            <a:srgbClr val="272525"/>
          </a:solidFill>
          <a:ln/>
        </p:spPr>
      </p:sp>
      <p:sp>
        <p:nvSpPr>
          <p:cNvPr id="25" name="Shape 22"/>
          <p:cNvSpPr/>
          <p:nvPr/>
        </p:nvSpPr>
        <p:spPr>
          <a:xfrm>
            <a:off x="5207437" y="7878961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26" name="Shape 23"/>
          <p:cNvSpPr/>
          <p:nvPr/>
        </p:nvSpPr>
        <p:spPr>
          <a:xfrm>
            <a:off x="7017425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018" y="7752993"/>
            <a:ext cx="238125" cy="2976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28655" y="8397954"/>
            <a:ext cx="25935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Definição Declarativa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5"/>
          <p:cNvSpPr/>
          <p:nvPr/>
        </p:nvSpPr>
        <p:spPr>
          <a:xfrm>
            <a:off x="5428654" y="8827175"/>
            <a:ext cx="419256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Descreva a sua aplicação de forma clara e legível, facilitando a colaboração e o versionamento.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9621203" y="7901821"/>
            <a:ext cx="4215289" cy="2409349"/>
          </a:xfrm>
          <a:prstGeom prst="roundRect">
            <a:avLst>
              <a:gd name="adj" fmla="val 4554"/>
            </a:avLst>
          </a:prstGeom>
          <a:solidFill>
            <a:srgbClr val="272525"/>
          </a:solidFill>
          <a:ln/>
        </p:spPr>
      </p:sp>
      <p:sp>
        <p:nvSpPr>
          <p:cNvPr id="31" name="Shape 27"/>
          <p:cNvSpPr/>
          <p:nvPr/>
        </p:nvSpPr>
        <p:spPr>
          <a:xfrm>
            <a:off x="9621203" y="7878961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</p:sp>
      <p:sp>
        <p:nvSpPr>
          <p:cNvPr id="32" name="Shape 28"/>
          <p:cNvSpPr/>
          <p:nvPr/>
        </p:nvSpPr>
        <p:spPr>
          <a:xfrm>
            <a:off x="11431191" y="7604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2B0AFF"/>
          </a:solidFill>
          <a:ln/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09784" y="7752993"/>
            <a:ext cx="238125" cy="2976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842421" y="8397954"/>
            <a:ext cx="30876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E5E0DF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Gerenciamento Unificado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9842421" y="8827175"/>
            <a:ext cx="419242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000" dirty="0">
                <a:solidFill>
                  <a:srgbClr val="E5E0DF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Gerencie todo o ciclo de vida da sua aplicação (build, run, stop) de maneira coesa e eficiente.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1923</Words>
  <Application>Microsoft Office PowerPoint</Application>
  <PresentationFormat>Personalizar</PresentationFormat>
  <Paragraphs>332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3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viniciusai gamePlay</dc:creator>
  <cp:lastModifiedBy>viniciusai gamePlay</cp:lastModifiedBy>
  <cp:revision>10</cp:revision>
  <dcterms:created xsi:type="dcterms:W3CDTF">2025-09-07T13:43:45Z</dcterms:created>
  <dcterms:modified xsi:type="dcterms:W3CDTF">2025-09-14T01:30:21Z</dcterms:modified>
</cp:coreProperties>
</file>